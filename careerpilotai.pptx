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eague Spartan" charset="1" panose="00000800000000000000"/>
      <p:regular r:id="rId18"/>
    </p:embeddedFont>
    <p:embeddedFont>
      <p:font typeface="Montserrat" charset="1" panose="00000500000000000000"/>
      <p:regular r:id="rId19"/>
    </p:embeddedFont>
    <p:embeddedFont>
      <p:font typeface="Arimo Bold" charset="1" panose="020B0704020202020204"/>
      <p:regular r:id="rId20"/>
    </p:embeddedFont>
    <p:embeddedFont>
      <p:font typeface="Calibri (MS)" charset="1" panose="020F0502020204030204"/>
      <p:regular r:id="rId21"/>
    </p:embeddedFont>
    <p:embeddedFont>
      <p:font typeface="Calibri (MS) Bold" charset="1" panose="020F0702030404030204"/>
      <p:regular r:id="rId22"/>
    </p:embeddedFont>
    <p:embeddedFont>
      <p:font typeface="Arimo" charset="1" panose="020B0604020202020204"/>
      <p:regular r:id="rId23"/>
    </p:embeddedFont>
    <p:embeddedFont>
      <p:font typeface="Literata Bold" charset="1" panose="00000000000000000000"/>
      <p:regular r:id="rId24"/>
    </p:embeddedFont>
    <p:embeddedFont>
      <p:font typeface="Quattrocento" charset="1" panose="02020502030000000404"/>
      <p:regular r:id="rId25"/>
    </p:embeddedFont>
    <p:embeddedFont>
      <p:font typeface="Montserrat Bold" charset="1" panose="00000800000000000000"/>
      <p:regular r:id="rId26"/>
    </p:embeddedFont>
    <p:embeddedFont>
      <p:font typeface="Garet" charset="1" panose="00000000000000000000"/>
      <p:regular r:id="rId27"/>
    </p:embeddedFont>
    <p:embeddedFont>
      <p:font typeface="Garet Bold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jpe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0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29.sv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14" Target="../media/image32.png" Type="http://schemas.openxmlformats.org/officeDocument/2006/relationships/image"/><Relationship Id="rId15" Target="../media/image33.svg" Type="http://schemas.openxmlformats.org/officeDocument/2006/relationships/image"/><Relationship Id="rId16" Target="../media/image34.svg" Type="http://schemas.openxmlformats.org/officeDocument/2006/relationships/image"/><Relationship Id="rId17" Target="../media/image10.jpe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jpeg" Type="http://schemas.openxmlformats.org/officeDocument/2006/relationships/image"/><Relationship Id="rId7" Target="../media/image41.jpeg" Type="http://schemas.openxmlformats.org/officeDocument/2006/relationships/image"/><Relationship Id="rId8" Target="../media/image10.jpe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4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9.svg" Type="http://schemas.openxmlformats.org/officeDocument/2006/relationships/image"/><Relationship Id="rId4" Target="../media/image10.jpe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32.png" Type="http://schemas.openxmlformats.org/officeDocument/2006/relationships/image"/><Relationship Id="rId8" Target="../media/image3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50.jpeg" Type="http://schemas.openxmlformats.org/officeDocument/2006/relationships/image"/><Relationship Id="rId4" Target="../media/image5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5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jpeg" Type="http://schemas.openxmlformats.org/officeDocument/2006/relationships/image"/><Relationship Id="rId3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85964"/>
            <a:ext cx="18288000" cy="901036"/>
            <a:chOff x="0" y="0"/>
            <a:chExt cx="18288000" cy="901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901071"/>
            </a:xfrm>
            <a:custGeom>
              <a:avLst/>
              <a:gdLst/>
              <a:ahLst/>
              <a:cxnLst/>
              <a:rect r="r" b="b" t="t" l="l"/>
              <a:pathLst>
                <a:path h="901071" w="18288000">
                  <a:moveTo>
                    <a:pt x="0" y="0"/>
                  </a:moveTo>
                  <a:lnTo>
                    <a:pt x="0" y="901071"/>
                  </a:lnTo>
                  <a:lnTo>
                    <a:pt x="18288000" y="901071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6" y="0"/>
            <a:ext cx="18287838" cy="4473064"/>
            <a:chOff x="0" y="0"/>
            <a:chExt cx="18287835" cy="44730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7868" cy="4473073"/>
            </a:xfrm>
            <a:custGeom>
              <a:avLst/>
              <a:gdLst/>
              <a:ahLst/>
              <a:cxnLst/>
              <a:rect r="r" b="b" t="t" l="l"/>
              <a:pathLst>
                <a:path h="4473073" w="18287868">
                  <a:moveTo>
                    <a:pt x="0" y="0"/>
                  </a:moveTo>
                  <a:lnTo>
                    <a:pt x="0" y="4473073"/>
                  </a:lnTo>
                  <a:lnTo>
                    <a:pt x="18287868" y="4473073"/>
                  </a:lnTo>
                  <a:lnTo>
                    <a:pt x="18287868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499919" y="454514"/>
            <a:ext cx="1185710" cy="569500"/>
          </a:xfrm>
          <a:custGeom>
            <a:avLst/>
            <a:gdLst/>
            <a:ahLst/>
            <a:cxnLst/>
            <a:rect r="r" b="b" t="t" l="l"/>
            <a:pathLst>
              <a:path h="569500" w="1185710">
                <a:moveTo>
                  <a:pt x="0" y="0"/>
                </a:moveTo>
                <a:lnTo>
                  <a:pt x="1185710" y="0"/>
                </a:lnTo>
                <a:lnTo>
                  <a:pt x="1185710" y="569500"/>
                </a:lnTo>
                <a:lnTo>
                  <a:pt x="0" y="569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328" t="0" r="-21447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04743" y="419329"/>
            <a:ext cx="509054" cy="568709"/>
          </a:xfrm>
          <a:custGeom>
            <a:avLst/>
            <a:gdLst/>
            <a:ahLst/>
            <a:cxnLst/>
            <a:rect r="r" b="b" t="t" l="l"/>
            <a:pathLst>
              <a:path h="568709" w="509054">
                <a:moveTo>
                  <a:pt x="0" y="0"/>
                </a:moveTo>
                <a:lnTo>
                  <a:pt x="509054" y="0"/>
                </a:lnTo>
                <a:lnTo>
                  <a:pt x="509054" y="568709"/>
                </a:lnTo>
                <a:lnTo>
                  <a:pt x="0" y="5687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6187" t="0" r="-116237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1731" y="413014"/>
            <a:ext cx="2726284" cy="617287"/>
          </a:xfrm>
          <a:custGeom>
            <a:avLst/>
            <a:gdLst/>
            <a:ahLst/>
            <a:cxnLst/>
            <a:rect r="r" b="b" t="t" l="l"/>
            <a:pathLst>
              <a:path h="617287" w="2726284">
                <a:moveTo>
                  <a:pt x="0" y="0"/>
                </a:moveTo>
                <a:lnTo>
                  <a:pt x="2726284" y="0"/>
                </a:lnTo>
                <a:lnTo>
                  <a:pt x="2726284" y="617286"/>
                </a:lnTo>
                <a:lnTo>
                  <a:pt x="0" y="6172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2931" r="-34" b="-3308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506736" y="312763"/>
            <a:ext cx="1267587" cy="829866"/>
          </a:xfrm>
          <a:custGeom>
            <a:avLst/>
            <a:gdLst/>
            <a:ahLst/>
            <a:cxnLst/>
            <a:rect r="r" b="b" t="t" l="l"/>
            <a:pathLst>
              <a:path h="829866" w="1267587">
                <a:moveTo>
                  <a:pt x="0" y="0"/>
                </a:moveTo>
                <a:lnTo>
                  <a:pt x="1267587" y="0"/>
                </a:lnTo>
                <a:lnTo>
                  <a:pt x="1267587" y="829866"/>
                </a:lnTo>
                <a:lnTo>
                  <a:pt x="0" y="8298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6410" r="0" b="-2633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090343" y="495129"/>
            <a:ext cx="1965265" cy="502710"/>
          </a:xfrm>
          <a:custGeom>
            <a:avLst/>
            <a:gdLst/>
            <a:ahLst/>
            <a:cxnLst/>
            <a:rect r="r" b="b" t="t" l="l"/>
            <a:pathLst>
              <a:path h="502710" w="1965265">
                <a:moveTo>
                  <a:pt x="0" y="0"/>
                </a:moveTo>
                <a:lnTo>
                  <a:pt x="1965265" y="0"/>
                </a:lnTo>
                <a:lnTo>
                  <a:pt x="1965265" y="502710"/>
                </a:lnTo>
                <a:lnTo>
                  <a:pt x="0" y="5027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978" r="-27" b="-709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120820" y="425129"/>
            <a:ext cx="1936194" cy="605209"/>
          </a:xfrm>
          <a:custGeom>
            <a:avLst/>
            <a:gdLst/>
            <a:ahLst/>
            <a:cxnLst/>
            <a:rect r="r" b="b" t="t" l="l"/>
            <a:pathLst>
              <a:path h="605209" w="1936194">
                <a:moveTo>
                  <a:pt x="0" y="0"/>
                </a:moveTo>
                <a:lnTo>
                  <a:pt x="1936194" y="0"/>
                </a:lnTo>
                <a:lnTo>
                  <a:pt x="1936194" y="605209"/>
                </a:lnTo>
                <a:lnTo>
                  <a:pt x="0" y="6052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6" t="0" r="-7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897249" y="437169"/>
            <a:ext cx="576577" cy="509226"/>
          </a:xfrm>
          <a:custGeom>
            <a:avLst/>
            <a:gdLst/>
            <a:ahLst/>
            <a:cxnLst/>
            <a:rect r="r" b="b" t="t" l="l"/>
            <a:pathLst>
              <a:path h="509226" w="576577">
                <a:moveTo>
                  <a:pt x="0" y="0"/>
                </a:moveTo>
                <a:lnTo>
                  <a:pt x="576577" y="0"/>
                </a:lnTo>
                <a:lnTo>
                  <a:pt x="576577" y="509225"/>
                </a:lnTo>
                <a:lnTo>
                  <a:pt x="0" y="5092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5164" r="-47" b="-499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13595" y="1533535"/>
            <a:ext cx="2940196" cy="2940196"/>
          </a:xfrm>
          <a:custGeom>
            <a:avLst/>
            <a:gdLst/>
            <a:ahLst/>
            <a:cxnLst/>
            <a:rect r="r" b="b" t="t" l="l"/>
            <a:pathLst>
              <a:path h="2940196" w="2940196">
                <a:moveTo>
                  <a:pt x="0" y="0"/>
                </a:moveTo>
                <a:lnTo>
                  <a:pt x="2940196" y="0"/>
                </a:lnTo>
                <a:lnTo>
                  <a:pt x="2940196" y="2940196"/>
                </a:lnTo>
                <a:lnTo>
                  <a:pt x="0" y="29401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1" b="-1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537671" y="1533535"/>
            <a:ext cx="7767523" cy="2723940"/>
          </a:xfrm>
          <a:custGeom>
            <a:avLst/>
            <a:gdLst/>
            <a:ahLst/>
            <a:cxnLst/>
            <a:rect r="r" b="b" t="t" l="l"/>
            <a:pathLst>
              <a:path h="2723940" w="7767523">
                <a:moveTo>
                  <a:pt x="0" y="0"/>
                </a:moveTo>
                <a:lnTo>
                  <a:pt x="7767523" y="0"/>
                </a:lnTo>
                <a:lnTo>
                  <a:pt x="7767523" y="2723940"/>
                </a:lnTo>
                <a:lnTo>
                  <a:pt x="0" y="27239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583" t="0" r="-2622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0" y="0"/>
            <a:ext cx="18288000" cy="4473759"/>
            <a:chOff x="0" y="0"/>
            <a:chExt cx="18288000" cy="44737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88000" cy="4473706"/>
            </a:xfrm>
            <a:custGeom>
              <a:avLst/>
              <a:gdLst/>
              <a:ahLst/>
              <a:cxnLst/>
              <a:rect r="r" b="b" t="t" l="l"/>
              <a:pathLst>
                <a:path h="4473706" w="18288000">
                  <a:moveTo>
                    <a:pt x="0" y="0"/>
                  </a:moveTo>
                  <a:lnTo>
                    <a:pt x="0" y="4473706"/>
                  </a:lnTo>
                  <a:lnTo>
                    <a:pt x="18288000" y="447370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0" y="9310373"/>
            <a:ext cx="18288000" cy="976627"/>
            <a:chOff x="0" y="0"/>
            <a:chExt cx="18288000" cy="97661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288000" cy="976625"/>
            </a:xfrm>
            <a:custGeom>
              <a:avLst/>
              <a:gdLst/>
              <a:ahLst/>
              <a:cxnLst/>
              <a:rect r="r" b="b" t="t" l="l"/>
              <a:pathLst>
                <a:path h="976625" w="18288000">
                  <a:moveTo>
                    <a:pt x="0" y="0"/>
                  </a:moveTo>
                  <a:lnTo>
                    <a:pt x="0" y="976625"/>
                  </a:lnTo>
                  <a:lnTo>
                    <a:pt x="18288000" y="976625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177196" y="581854"/>
            <a:ext cx="1793691" cy="19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9"/>
              </a:lnSpc>
            </a:pPr>
            <a:r>
              <a:rPr lang="en-US" b="true" sz="137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IETE Student Forum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37997" y="726034"/>
            <a:ext cx="1556509" cy="1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761">
                <a:solidFill>
                  <a:srgbClr val="FF91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Amrita Vishwa Vidyapeetham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1796" y="5352955"/>
            <a:ext cx="4097731" cy="86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4"/>
              </a:lnSpc>
            </a:pPr>
            <a:r>
              <a:rPr lang="en-US" sz="459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Team Name :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1796" y="6270384"/>
            <a:ext cx="6313303" cy="1874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4"/>
              </a:lnSpc>
            </a:pPr>
            <a:r>
              <a:rPr lang="en-US" sz="459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Team Leader Name : </a:t>
            </a:r>
          </a:p>
          <a:p>
            <a:pPr algn="l">
              <a:lnSpc>
                <a:spcPts val="8462"/>
              </a:lnSpc>
            </a:pPr>
            <a:r>
              <a:rPr lang="en-US" sz="4738" spc="3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Track : Agentic AI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894116" y="5361594"/>
            <a:ext cx="2803027" cy="89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9"/>
              </a:lnSpc>
            </a:pPr>
            <a:r>
              <a:rPr lang="en-US" sz="47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COSMOS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83978" y="6305007"/>
            <a:ext cx="3781349" cy="89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9"/>
              </a:lnSpc>
            </a:pPr>
            <a:r>
              <a:rPr lang="en-US" sz="47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Hanshitha 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48" y="-3048"/>
            <a:ext cx="18290191" cy="1192540"/>
            <a:chOff x="0" y="0"/>
            <a:chExt cx="18290197" cy="119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048" y="3048"/>
              <a:ext cx="18287115" cy="1189484"/>
            </a:xfrm>
            <a:custGeom>
              <a:avLst/>
              <a:gdLst/>
              <a:ahLst/>
              <a:cxnLst/>
              <a:rect r="r" b="b" t="t" l="l"/>
              <a:pathLst>
                <a:path h="1189484" w="18287115">
                  <a:moveTo>
                    <a:pt x="0" y="0"/>
                  </a:moveTo>
                  <a:lnTo>
                    <a:pt x="0" y="1189484"/>
                  </a:lnTo>
                  <a:lnTo>
                    <a:pt x="18287115" y="1189484"/>
                  </a:lnTo>
                  <a:lnTo>
                    <a:pt x="18287115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333240" y="0"/>
            <a:ext cx="3468843" cy="1168965"/>
          </a:xfrm>
          <a:custGeom>
            <a:avLst/>
            <a:gdLst/>
            <a:ahLst/>
            <a:cxnLst/>
            <a:rect r="r" b="b" t="t" l="l"/>
            <a:pathLst>
              <a:path h="1168965" w="3468843">
                <a:moveTo>
                  <a:pt x="0" y="0"/>
                </a:moveTo>
                <a:lnTo>
                  <a:pt x="3468843" y="0"/>
                </a:lnTo>
                <a:lnTo>
                  <a:pt x="3468843" y="1168965"/>
                </a:lnTo>
                <a:lnTo>
                  <a:pt x="0" y="1168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11" t="-4492" r="-2827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96490" y="1435989"/>
            <a:ext cx="57140" cy="571405"/>
            <a:chOff x="0" y="0"/>
            <a:chExt cx="57137" cy="5713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47" cy="571367"/>
            </a:xfrm>
            <a:custGeom>
              <a:avLst/>
              <a:gdLst/>
              <a:ahLst/>
              <a:cxnLst/>
              <a:rect r="r" b="b" t="t" l="l"/>
              <a:pathLst>
                <a:path h="571367" w="57147">
                  <a:moveTo>
                    <a:pt x="0" y="0"/>
                  </a:moveTo>
                  <a:lnTo>
                    <a:pt x="57147" y="0"/>
                  </a:lnTo>
                  <a:lnTo>
                    <a:pt x="57147" y="571367"/>
                  </a:lnTo>
                  <a:lnTo>
                    <a:pt x="0" y="571367"/>
                  </a:lnTo>
                  <a:close/>
                </a:path>
              </a:pathLst>
            </a:custGeom>
            <a:solidFill>
              <a:srgbClr val="1CBFA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 descr="A group of icons on a white background  AI-generated content may be incorrect."/>
          <p:cNvSpPr/>
          <p:nvPr/>
        </p:nvSpPr>
        <p:spPr>
          <a:xfrm flipH="false" flipV="false" rot="0">
            <a:off x="12858379" y="4119201"/>
            <a:ext cx="4800600" cy="6019800"/>
          </a:xfrm>
          <a:custGeom>
            <a:avLst/>
            <a:gdLst/>
            <a:ahLst/>
            <a:cxnLst/>
            <a:rect r="r" b="b" t="t" l="l"/>
            <a:pathLst>
              <a:path h="6019800" w="4800600">
                <a:moveTo>
                  <a:pt x="0" y="0"/>
                </a:moveTo>
                <a:lnTo>
                  <a:pt x="4800600" y="0"/>
                </a:lnTo>
                <a:lnTo>
                  <a:pt x="4800600" y="6019800"/>
                </a:lnTo>
                <a:lnTo>
                  <a:pt x="0" y="6019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5" r="-12500" b="-17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16192" y="2952912"/>
            <a:ext cx="11736829" cy="7250859"/>
          </a:xfrm>
          <a:custGeom>
            <a:avLst/>
            <a:gdLst/>
            <a:ahLst/>
            <a:cxnLst/>
            <a:rect r="r" b="b" t="t" l="l"/>
            <a:pathLst>
              <a:path h="7250859" w="11736829">
                <a:moveTo>
                  <a:pt x="0" y="0"/>
                </a:moveTo>
                <a:lnTo>
                  <a:pt x="11736829" y="0"/>
                </a:lnTo>
                <a:lnTo>
                  <a:pt x="11736829" y="7250859"/>
                </a:lnTo>
                <a:lnTo>
                  <a:pt x="0" y="7250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0" y="0"/>
            <a:ext cx="18288000" cy="1196445"/>
            <a:chOff x="0" y="0"/>
            <a:chExt cx="18288000" cy="11964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1196468"/>
            </a:xfrm>
            <a:custGeom>
              <a:avLst/>
              <a:gdLst/>
              <a:ahLst/>
              <a:cxnLst/>
              <a:rect r="r" b="b" t="t" l="l"/>
              <a:pathLst>
                <a:path h="1196468" w="18288000">
                  <a:moveTo>
                    <a:pt x="0" y="0"/>
                  </a:moveTo>
                  <a:lnTo>
                    <a:pt x="0" y="1196468"/>
                  </a:lnTo>
                  <a:lnTo>
                    <a:pt x="18288000" y="1196468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2794875" y="2562254"/>
            <a:ext cx="4903603" cy="1464869"/>
          </a:xfrm>
          <a:custGeom>
            <a:avLst/>
            <a:gdLst/>
            <a:ahLst/>
            <a:cxnLst/>
            <a:rect r="r" b="b" t="t" l="l"/>
            <a:pathLst>
              <a:path h="1464869" w="4903603">
                <a:moveTo>
                  <a:pt x="0" y="0"/>
                </a:moveTo>
                <a:lnTo>
                  <a:pt x="4903604" y="0"/>
                </a:lnTo>
                <a:lnTo>
                  <a:pt x="4903604" y="1464868"/>
                </a:lnTo>
                <a:lnTo>
                  <a:pt x="0" y="1464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25056" y="2195160"/>
            <a:ext cx="6879574" cy="43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8"/>
              </a:lnSpc>
            </a:pPr>
            <a:r>
              <a:rPr lang="en-US" sz="254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Turning Career Uncertainty Into Direction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852" y="1341444"/>
            <a:ext cx="4350210" cy="84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b="true" sz="4899">
                <a:solidFill>
                  <a:srgbClr val="1CBFA2"/>
                </a:solidFill>
                <a:latin typeface="Arimo Bold"/>
                <a:ea typeface="Arimo Bold"/>
                <a:cs typeface="Arimo Bold"/>
                <a:sym typeface="Arimo Bold"/>
              </a:rPr>
              <a:t>CareerPilot AI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3906" y="3466319"/>
            <a:ext cx="10607459" cy="716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99" spc="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 </a:t>
            </a:r>
            <a:r>
              <a:rPr lang="en-US" b="true" sz="2299" spc="1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agentic, AI-powered career mentorship platform</a:t>
            </a:r>
            <a:r>
              <a:rPr lang="en-US" sz="2299" spc="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designed to navigate uncertainty in a fast-changing job market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3906" y="4495019"/>
            <a:ext cx="10607288" cy="72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Unlike traditional career tools that offer </a:t>
            </a:r>
            <a:r>
              <a:rPr lang="en-US" b="true" sz="22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static advice or one-time recommendations</a:t>
            </a:r>
            <a:r>
              <a:rPr lang="en-US" sz="2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it acts as a </a:t>
            </a:r>
            <a:r>
              <a:rPr lang="en-US" b="true" sz="22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long-term virtual mentor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3906" y="5523719"/>
            <a:ext cx="10607392" cy="716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99" spc="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Continuously </a:t>
            </a:r>
            <a:r>
              <a:rPr lang="en-US" b="true" sz="2299" spc="1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plans, adapts, and guides career decisions</a:t>
            </a:r>
            <a:r>
              <a:rPr lang="en-US" sz="2299" spc="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as the user’s skills, goals, and circumstances evolve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3906" y="6552419"/>
            <a:ext cx="9876425" cy="38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Treats career growth as a </a:t>
            </a:r>
            <a:r>
              <a:rPr lang="en-US" b="true" sz="22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dynamic, evolving journey</a:t>
            </a:r>
            <a:r>
              <a:rPr lang="en-US" sz="2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rather than a static checklist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3906" y="7238219"/>
            <a:ext cx="67342" cy="37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0156" y="7238219"/>
            <a:ext cx="10121551" cy="38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Maintains </a:t>
            </a:r>
            <a:r>
              <a:rPr lang="en-US" b="true" sz="22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persistent career memory</a:t>
            </a:r>
            <a:r>
              <a:rPr lang="en-US" sz="2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learning from progress, interviews, and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3906" y="7581119"/>
            <a:ext cx="1195597" cy="37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rejections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3906" y="8266919"/>
            <a:ext cx="8262023" cy="38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b="true" sz="22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Recalculates the next best strategy</a:t>
            </a:r>
            <a:r>
              <a:rPr lang="en-US" sz="2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during uncertainty or setbacks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3906" y="8952719"/>
            <a:ext cx="10607469" cy="72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99" spc="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decision paralysis and job-search stress by </a:t>
            </a:r>
            <a:r>
              <a:rPr lang="en-US" b="true" sz="2299" spc="5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turning failures into actionable feedback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74577" y="2958370"/>
            <a:ext cx="4432364" cy="66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EFEFE"/>
                </a:solidFill>
                <a:latin typeface="Arimo"/>
                <a:ea typeface="Arimo"/>
                <a:cs typeface="Arimo"/>
                <a:sym typeface="Arimo"/>
              </a:rPr>
              <a:t>Targeted Audience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7299" y="1541736"/>
            <a:ext cx="55578" cy="555784"/>
            <a:chOff x="0" y="0"/>
            <a:chExt cx="55575" cy="5557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496" cy="555758"/>
            </a:xfrm>
            <a:custGeom>
              <a:avLst/>
              <a:gdLst/>
              <a:ahLst/>
              <a:cxnLst/>
              <a:rect r="r" b="b" t="t" l="l"/>
              <a:pathLst>
                <a:path h="555758" w="55496">
                  <a:moveTo>
                    <a:pt x="0" y="0"/>
                  </a:moveTo>
                  <a:lnTo>
                    <a:pt x="0" y="555758"/>
                  </a:lnTo>
                  <a:lnTo>
                    <a:pt x="55496" y="555758"/>
                  </a:lnTo>
                  <a:lnTo>
                    <a:pt x="55496" y="0"/>
                  </a:lnTo>
                  <a:close/>
                </a:path>
              </a:pathLst>
            </a:custGeom>
            <a:solidFill>
              <a:srgbClr val="1CBFA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3048" y="-3048"/>
            <a:ext cx="18290191" cy="1192540"/>
            <a:chOff x="0" y="0"/>
            <a:chExt cx="18290197" cy="11925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048" y="3048"/>
              <a:ext cx="18287115" cy="1189484"/>
            </a:xfrm>
            <a:custGeom>
              <a:avLst/>
              <a:gdLst/>
              <a:ahLst/>
              <a:cxnLst/>
              <a:rect r="r" b="b" t="t" l="l"/>
              <a:pathLst>
                <a:path h="1189484" w="18287115">
                  <a:moveTo>
                    <a:pt x="0" y="0"/>
                  </a:moveTo>
                  <a:lnTo>
                    <a:pt x="0" y="1189484"/>
                  </a:lnTo>
                  <a:lnTo>
                    <a:pt x="18287115" y="1189484"/>
                  </a:lnTo>
                  <a:lnTo>
                    <a:pt x="18287115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794367" y="7345528"/>
            <a:ext cx="14700247" cy="3004966"/>
            <a:chOff x="0" y="0"/>
            <a:chExt cx="14700250" cy="30049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77343"/>
              <a:ext cx="14573252" cy="2864106"/>
            </a:xfrm>
            <a:custGeom>
              <a:avLst/>
              <a:gdLst/>
              <a:ahLst/>
              <a:cxnLst/>
              <a:rect r="r" b="b" t="t" l="l"/>
              <a:pathLst>
                <a:path h="2864106" w="14573252">
                  <a:moveTo>
                    <a:pt x="0" y="0"/>
                  </a:moveTo>
                  <a:lnTo>
                    <a:pt x="0" y="2864106"/>
                  </a:lnTo>
                  <a:lnTo>
                    <a:pt x="14573252" y="2864106"/>
                  </a:lnTo>
                  <a:lnTo>
                    <a:pt x="14573252" y="0"/>
                  </a:lnTo>
                  <a:close/>
                </a:path>
              </a:pathLst>
            </a:custGeom>
            <a:solidFill>
              <a:srgbClr val="1CBFA2">
                <a:alpha val="3922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14573252" cy="30988"/>
            </a:xfrm>
            <a:custGeom>
              <a:avLst/>
              <a:gdLst/>
              <a:ahLst/>
              <a:cxnLst/>
              <a:rect r="r" b="b" t="t" l="l"/>
              <a:pathLst>
                <a:path h="30988" w="14573252">
                  <a:moveTo>
                    <a:pt x="0" y="0"/>
                  </a:moveTo>
                  <a:lnTo>
                    <a:pt x="0" y="30988"/>
                  </a:lnTo>
                  <a:lnTo>
                    <a:pt x="14573252" y="30988"/>
                  </a:lnTo>
                  <a:lnTo>
                    <a:pt x="14573252" y="0"/>
                  </a:lnTo>
                  <a:close/>
                </a:path>
              </a:pathLst>
            </a:custGeom>
            <a:solidFill>
              <a:srgbClr val="1CBFA2">
                <a:alpha val="8627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756585" y="444754"/>
              <a:ext cx="369010" cy="333375"/>
            </a:xfrm>
            <a:custGeom>
              <a:avLst/>
              <a:gdLst/>
              <a:ahLst/>
              <a:cxnLst/>
              <a:rect r="r" b="b" t="t" l="l"/>
              <a:pathLst>
                <a:path h="333375" w="369010">
                  <a:moveTo>
                    <a:pt x="369010" y="72898"/>
                  </a:moveTo>
                  <a:cubicBezTo>
                    <a:pt x="364946" y="124079"/>
                    <a:pt x="341070" y="151638"/>
                    <a:pt x="314782" y="167132"/>
                  </a:cubicBezTo>
                  <a:cubicBezTo>
                    <a:pt x="323671" y="143383"/>
                    <a:pt x="330910" y="112522"/>
                    <a:pt x="334975" y="72898"/>
                  </a:cubicBezTo>
                  <a:close/>
                  <a:moveTo>
                    <a:pt x="99516" y="72898"/>
                  </a:moveTo>
                  <a:cubicBezTo>
                    <a:pt x="103707" y="114300"/>
                    <a:pt x="111454" y="146050"/>
                    <a:pt x="120852" y="170307"/>
                  </a:cubicBezTo>
                  <a:cubicBezTo>
                    <a:pt x="94690" y="155702"/>
                    <a:pt x="69290" y="128016"/>
                    <a:pt x="65353" y="72898"/>
                  </a:cubicBezTo>
                  <a:close/>
                  <a:moveTo>
                    <a:pt x="90626" y="0"/>
                  </a:moveTo>
                  <a:cubicBezTo>
                    <a:pt x="74497" y="1270"/>
                    <a:pt x="61797" y="14859"/>
                    <a:pt x="62432" y="31369"/>
                  </a:cubicBezTo>
                  <a:cubicBezTo>
                    <a:pt x="62559" y="34925"/>
                    <a:pt x="62687" y="38227"/>
                    <a:pt x="62940" y="41656"/>
                  </a:cubicBezTo>
                  <a:lnTo>
                    <a:pt x="30682" y="41656"/>
                  </a:lnTo>
                  <a:cubicBezTo>
                    <a:pt x="13791" y="41656"/>
                    <a:pt x="-1194" y="55753"/>
                    <a:pt x="76" y="74041"/>
                  </a:cubicBezTo>
                  <a:cubicBezTo>
                    <a:pt x="4647" y="140843"/>
                    <a:pt x="36397" y="177927"/>
                    <a:pt x="71703" y="197612"/>
                  </a:cubicBezTo>
                  <a:cubicBezTo>
                    <a:pt x="84403" y="204724"/>
                    <a:pt x="97357" y="209550"/>
                    <a:pt x="109422" y="212852"/>
                  </a:cubicBezTo>
                  <a:cubicBezTo>
                    <a:pt x="122122" y="229997"/>
                    <a:pt x="135076" y="239268"/>
                    <a:pt x="145364" y="244221"/>
                  </a:cubicBezTo>
                  <a:lnTo>
                    <a:pt x="145364" y="291846"/>
                  </a:lnTo>
                  <a:lnTo>
                    <a:pt x="103707" y="291846"/>
                  </a:lnTo>
                  <a:cubicBezTo>
                    <a:pt x="92151" y="291846"/>
                    <a:pt x="82879" y="301117"/>
                    <a:pt x="82879" y="312674"/>
                  </a:cubicBezTo>
                  <a:cubicBezTo>
                    <a:pt x="82879" y="323215"/>
                    <a:pt x="90753" y="331979"/>
                    <a:pt x="100914" y="333376"/>
                  </a:cubicBezTo>
                  <a:lnTo>
                    <a:pt x="231470" y="333376"/>
                  </a:lnTo>
                  <a:cubicBezTo>
                    <a:pt x="241629" y="331979"/>
                    <a:pt x="249503" y="323215"/>
                    <a:pt x="249503" y="312674"/>
                  </a:cubicBezTo>
                  <a:cubicBezTo>
                    <a:pt x="249503" y="301117"/>
                    <a:pt x="240232" y="291846"/>
                    <a:pt x="228676" y="291846"/>
                  </a:cubicBezTo>
                  <a:lnTo>
                    <a:pt x="187020" y="291846"/>
                  </a:lnTo>
                  <a:lnTo>
                    <a:pt x="187020" y="244221"/>
                  </a:lnTo>
                  <a:cubicBezTo>
                    <a:pt x="197814" y="239014"/>
                    <a:pt x="211531" y="229235"/>
                    <a:pt x="224738" y="210566"/>
                  </a:cubicBezTo>
                  <a:cubicBezTo>
                    <a:pt x="234771" y="207645"/>
                    <a:pt x="245185" y="203581"/>
                    <a:pt x="255472" y="198247"/>
                  </a:cubicBezTo>
                  <a:cubicBezTo>
                    <a:pt x="292938" y="178816"/>
                    <a:pt x="327482" y="141732"/>
                    <a:pt x="332307" y="74168"/>
                  </a:cubicBezTo>
                  <a:cubicBezTo>
                    <a:pt x="333577" y="55753"/>
                    <a:pt x="318591" y="41656"/>
                    <a:pt x="301701" y="41656"/>
                  </a:cubicBezTo>
                  <a:lnTo>
                    <a:pt x="269443" y="41656"/>
                  </a:lnTo>
                  <a:cubicBezTo>
                    <a:pt x="269570" y="38227"/>
                    <a:pt x="269823" y="34798"/>
                    <a:pt x="269951" y="31369"/>
                  </a:cubicBezTo>
                  <a:cubicBezTo>
                    <a:pt x="270585" y="14224"/>
                    <a:pt x="256615" y="0"/>
                    <a:pt x="239470" y="0"/>
                  </a:cubicBezTo>
                  <a:close/>
                </a:path>
              </a:pathLst>
            </a:custGeom>
            <a:solidFill>
              <a:srgbClr val="1CBFA2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92327" y="1113156"/>
              <a:ext cx="85598" cy="85598"/>
            </a:xfrm>
            <a:custGeom>
              <a:avLst/>
              <a:gdLst/>
              <a:ahLst/>
              <a:cxnLst/>
              <a:rect r="r" b="b" t="t" l="l"/>
              <a:pathLst>
                <a:path h="85598" w="85598">
                  <a:moveTo>
                    <a:pt x="85598" y="42799"/>
                  </a:moveTo>
                  <a:cubicBezTo>
                    <a:pt x="85598" y="48514"/>
                    <a:pt x="84455" y="53975"/>
                    <a:pt x="82296" y="59182"/>
                  </a:cubicBezTo>
                  <a:cubicBezTo>
                    <a:pt x="80137" y="64389"/>
                    <a:pt x="76962" y="69088"/>
                    <a:pt x="73025" y="73025"/>
                  </a:cubicBezTo>
                  <a:cubicBezTo>
                    <a:pt x="69088" y="76962"/>
                    <a:pt x="64389" y="80137"/>
                    <a:pt x="59182" y="82296"/>
                  </a:cubicBezTo>
                  <a:cubicBezTo>
                    <a:pt x="53975" y="84455"/>
                    <a:pt x="48514" y="85598"/>
                    <a:pt x="42799" y="85598"/>
                  </a:cubicBezTo>
                  <a:cubicBezTo>
                    <a:pt x="37084" y="85598"/>
                    <a:pt x="31623" y="84455"/>
                    <a:pt x="26416" y="82296"/>
                  </a:cubicBezTo>
                  <a:cubicBezTo>
                    <a:pt x="21209" y="80137"/>
                    <a:pt x="16510" y="76962"/>
                    <a:pt x="12573" y="73025"/>
                  </a:cubicBezTo>
                  <a:cubicBezTo>
                    <a:pt x="8636" y="69088"/>
                    <a:pt x="5461" y="64389"/>
                    <a:pt x="3302" y="59182"/>
                  </a:cubicBezTo>
                  <a:cubicBezTo>
                    <a:pt x="1143" y="53975"/>
                    <a:pt x="0" y="48514"/>
                    <a:pt x="0" y="42799"/>
                  </a:cubicBezTo>
                  <a:cubicBezTo>
                    <a:pt x="0" y="37084"/>
                    <a:pt x="1143" y="31623"/>
                    <a:pt x="3302" y="26416"/>
                  </a:cubicBezTo>
                  <a:cubicBezTo>
                    <a:pt x="5461" y="21209"/>
                    <a:pt x="8636" y="16510"/>
                    <a:pt x="12573" y="12573"/>
                  </a:cubicBezTo>
                  <a:cubicBezTo>
                    <a:pt x="16510" y="8636"/>
                    <a:pt x="21209" y="5461"/>
                    <a:pt x="26416" y="3302"/>
                  </a:cubicBezTo>
                  <a:cubicBezTo>
                    <a:pt x="31623" y="1143"/>
                    <a:pt x="37084" y="0"/>
                    <a:pt x="42799" y="0"/>
                  </a:cubicBezTo>
                  <a:cubicBezTo>
                    <a:pt x="48514" y="0"/>
                    <a:pt x="53975" y="1143"/>
                    <a:pt x="59182" y="3302"/>
                  </a:cubicBezTo>
                  <a:cubicBezTo>
                    <a:pt x="64389" y="5461"/>
                    <a:pt x="69088" y="8636"/>
                    <a:pt x="73025" y="12573"/>
                  </a:cubicBezTo>
                  <a:cubicBezTo>
                    <a:pt x="76962" y="16510"/>
                    <a:pt x="80137" y="21209"/>
                    <a:pt x="82296" y="26416"/>
                  </a:cubicBezTo>
                  <a:cubicBezTo>
                    <a:pt x="84455" y="31623"/>
                    <a:pt x="85598" y="37084"/>
                    <a:pt x="85598" y="42799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092327" y="1503681"/>
              <a:ext cx="85598" cy="85598"/>
            </a:xfrm>
            <a:custGeom>
              <a:avLst/>
              <a:gdLst/>
              <a:ahLst/>
              <a:cxnLst/>
              <a:rect r="r" b="b" t="t" l="l"/>
              <a:pathLst>
                <a:path h="85598" w="85598">
                  <a:moveTo>
                    <a:pt x="85598" y="42799"/>
                  </a:moveTo>
                  <a:cubicBezTo>
                    <a:pt x="85598" y="48514"/>
                    <a:pt x="84455" y="53975"/>
                    <a:pt x="82296" y="59182"/>
                  </a:cubicBezTo>
                  <a:cubicBezTo>
                    <a:pt x="80137" y="64389"/>
                    <a:pt x="76962" y="69088"/>
                    <a:pt x="73025" y="73025"/>
                  </a:cubicBezTo>
                  <a:cubicBezTo>
                    <a:pt x="69088" y="76962"/>
                    <a:pt x="64389" y="80137"/>
                    <a:pt x="59182" y="82296"/>
                  </a:cubicBezTo>
                  <a:cubicBezTo>
                    <a:pt x="53975" y="84455"/>
                    <a:pt x="48514" y="85598"/>
                    <a:pt x="42799" y="85598"/>
                  </a:cubicBezTo>
                  <a:cubicBezTo>
                    <a:pt x="37084" y="85598"/>
                    <a:pt x="31623" y="84455"/>
                    <a:pt x="26416" y="82296"/>
                  </a:cubicBezTo>
                  <a:cubicBezTo>
                    <a:pt x="21209" y="80137"/>
                    <a:pt x="16510" y="76962"/>
                    <a:pt x="12573" y="73025"/>
                  </a:cubicBezTo>
                  <a:cubicBezTo>
                    <a:pt x="8636" y="69088"/>
                    <a:pt x="5461" y="64389"/>
                    <a:pt x="3302" y="59182"/>
                  </a:cubicBezTo>
                  <a:cubicBezTo>
                    <a:pt x="1143" y="53975"/>
                    <a:pt x="0" y="48514"/>
                    <a:pt x="0" y="42799"/>
                  </a:cubicBezTo>
                  <a:cubicBezTo>
                    <a:pt x="0" y="37084"/>
                    <a:pt x="1143" y="31623"/>
                    <a:pt x="3302" y="26416"/>
                  </a:cubicBezTo>
                  <a:cubicBezTo>
                    <a:pt x="5461" y="21209"/>
                    <a:pt x="8636" y="16510"/>
                    <a:pt x="12573" y="12573"/>
                  </a:cubicBezTo>
                  <a:cubicBezTo>
                    <a:pt x="16510" y="8636"/>
                    <a:pt x="21209" y="5461"/>
                    <a:pt x="26416" y="3302"/>
                  </a:cubicBezTo>
                  <a:cubicBezTo>
                    <a:pt x="31623" y="1143"/>
                    <a:pt x="37084" y="0"/>
                    <a:pt x="42799" y="0"/>
                  </a:cubicBezTo>
                  <a:cubicBezTo>
                    <a:pt x="48514" y="0"/>
                    <a:pt x="53975" y="1143"/>
                    <a:pt x="59182" y="3302"/>
                  </a:cubicBezTo>
                  <a:cubicBezTo>
                    <a:pt x="64389" y="5461"/>
                    <a:pt x="69088" y="8636"/>
                    <a:pt x="73025" y="12573"/>
                  </a:cubicBezTo>
                  <a:cubicBezTo>
                    <a:pt x="76962" y="16510"/>
                    <a:pt x="80137" y="21209"/>
                    <a:pt x="82296" y="26416"/>
                  </a:cubicBezTo>
                  <a:cubicBezTo>
                    <a:pt x="84455" y="31623"/>
                    <a:pt x="85598" y="37084"/>
                    <a:pt x="85598" y="42799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092327" y="1894206"/>
              <a:ext cx="85598" cy="85598"/>
            </a:xfrm>
            <a:custGeom>
              <a:avLst/>
              <a:gdLst/>
              <a:ahLst/>
              <a:cxnLst/>
              <a:rect r="r" b="b" t="t" l="l"/>
              <a:pathLst>
                <a:path h="85598" w="85598">
                  <a:moveTo>
                    <a:pt x="85598" y="42799"/>
                  </a:moveTo>
                  <a:cubicBezTo>
                    <a:pt x="85598" y="48514"/>
                    <a:pt x="84455" y="53975"/>
                    <a:pt x="82296" y="59182"/>
                  </a:cubicBezTo>
                  <a:cubicBezTo>
                    <a:pt x="80137" y="64389"/>
                    <a:pt x="76962" y="69089"/>
                    <a:pt x="73025" y="73025"/>
                  </a:cubicBezTo>
                  <a:cubicBezTo>
                    <a:pt x="69088" y="76962"/>
                    <a:pt x="64389" y="80137"/>
                    <a:pt x="59182" y="82296"/>
                  </a:cubicBezTo>
                  <a:cubicBezTo>
                    <a:pt x="53975" y="84455"/>
                    <a:pt x="48514" y="85598"/>
                    <a:pt x="42799" y="85598"/>
                  </a:cubicBezTo>
                  <a:cubicBezTo>
                    <a:pt x="37084" y="85598"/>
                    <a:pt x="31623" y="84455"/>
                    <a:pt x="26416" y="82296"/>
                  </a:cubicBezTo>
                  <a:cubicBezTo>
                    <a:pt x="21209" y="80137"/>
                    <a:pt x="16510" y="76962"/>
                    <a:pt x="12573" y="73025"/>
                  </a:cubicBezTo>
                  <a:cubicBezTo>
                    <a:pt x="8636" y="69089"/>
                    <a:pt x="5461" y="64389"/>
                    <a:pt x="3302" y="59182"/>
                  </a:cubicBezTo>
                  <a:cubicBezTo>
                    <a:pt x="1143" y="53975"/>
                    <a:pt x="0" y="48514"/>
                    <a:pt x="0" y="42799"/>
                  </a:cubicBezTo>
                  <a:cubicBezTo>
                    <a:pt x="0" y="37084"/>
                    <a:pt x="1143" y="31623"/>
                    <a:pt x="3302" y="26416"/>
                  </a:cubicBezTo>
                  <a:cubicBezTo>
                    <a:pt x="5461" y="21209"/>
                    <a:pt x="8636" y="16511"/>
                    <a:pt x="12573" y="12573"/>
                  </a:cubicBezTo>
                  <a:cubicBezTo>
                    <a:pt x="16510" y="8636"/>
                    <a:pt x="21209" y="5461"/>
                    <a:pt x="26416" y="3302"/>
                  </a:cubicBezTo>
                  <a:cubicBezTo>
                    <a:pt x="31623" y="1143"/>
                    <a:pt x="37084" y="0"/>
                    <a:pt x="42799" y="0"/>
                  </a:cubicBezTo>
                  <a:cubicBezTo>
                    <a:pt x="48514" y="0"/>
                    <a:pt x="53975" y="1143"/>
                    <a:pt x="59182" y="3302"/>
                  </a:cubicBezTo>
                  <a:cubicBezTo>
                    <a:pt x="64389" y="5461"/>
                    <a:pt x="69088" y="8636"/>
                    <a:pt x="73025" y="12573"/>
                  </a:cubicBezTo>
                  <a:cubicBezTo>
                    <a:pt x="76962" y="16511"/>
                    <a:pt x="80137" y="21209"/>
                    <a:pt x="82296" y="26416"/>
                  </a:cubicBezTo>
                  <a:cubicBezTo>
                    <a:pt x="84455" y="31623"/>
                    <a:pt x="85598" y="37084"/>
                    <a:pt x="85598" y="42799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092327" y="2284732"/>
              <a:ext cx="85598" cy="85598"/>
            </a:xfrm>
            <a:custGeom>
              <a:avLst/>
              <a:gdLst/>
              <a:ahLst/>
              <a:cxnLst/>
              <a:rect r="r" b="b" t="t" l="l"/>
              <a:pathLst>
                <a:path h="85598" w="85598">
                  <a:moveTo>
                    <a:pt x="85598" y="42799"/>
                  </a:moveTo>
                  <a:cubicBezTo>
                    <a:pt x="85598" y="48514"/>
                    <a:pt x="84455" y="53975"/>
                    <a:pt x="82296" y="59182"/>
                  </a:cubicBezTo>
                  <a:cubicBezTo>
                    <a:pt x="80137" y="64389"/>
                    <a:pt x="76962" y="69088"/>
                    <a:pt x="73025" y="73025"/>
                  </a:cubicBezTo>
                  <a:cubicBezTo>
                    <a:pt x="69088" y="76962"/>
                    <a:pt x="64389" y="80137"/>
                    <a:pt x="59182" y="82296"/>
                  </a:cubicBezTo>
                  <a:cubicBezTo>
                    <a:pt x="53975" y="84455"/>
                    <a:pt x="48514" y="85598"/>
                    <a:pt x="42799" y="85598"/>
                  </a:cubicBezTo>
                  <a:cubicBezTo>
                    <a:pt x="37084" y="85598"/>
                    <a:pt x="31623" y="84455"/>
                    <a:pt x="26416" y="82296"/>
                  </a:cubicBezTo>
                  <a:cubicBezTo>
                    <a:pt x="21209" y="80137"/>
                    <a:pt x="16510" y="76962"/>
                    <a:pt x="12573" y="73025"/>
                  </a:cubicBezTo>
                  <a:cubicBezTo>
                    <a:pt x="8636" y="69088"/>
                    <a:pt x="5461" y="64389"/>
                    <a:pt x="3302" y="59182"/>
                  </a:cubicBezTo>
                  <a:cubicBezTo>
                    <a:pt x="1143" y="53975"/>
                    <a:pt x="0" y="48514"/>
                    <a:pt x="0" y="42799"/>
                  </a:cubicBezTo>
                  <a:cubicBezTo>
                    <a:pt x="0" y="37084"/>
                    <a:pt x="1143" y="31623"/>
                    <a:pt x="3302" y="26416"/>
                  </a:cubicBezTo>
                  <a:cubicBezTo>
                    <a:pt x="5461" y="21209"/>
                    <a:pt x="8636" y="16510"/>
                    <a:pt x="12573" y="12573"/>
                  </a:cubicBezTo>
                  <a:cubicBezTo>
                    <a:pt x="16510" y="8636"/>
                    <a:pt x="21209" y="5461"/>
                    <a:pt x="26416" y="3302"/>
                  </a:cubicBezTo>
                  <a:cubicBezTo>
                    <a:pt x="31623" y="1143"/>
                    <a:pt x="37084" y="0"/>
                    <a:pt x="42799" y="0"/>
                  </a:cubicBezTo>
                  <a:cubicBezTo>
                    <a:pt x="48514" y="0"/>
                    <a:pt x="53975" y="1143"/>
                    <a:pt x="59182" y="3302"/>
                  </a:cubicBezTo>
                  <a:cubicBezTo>
                    <a:pt x="64389" y="5461"/>
                    <a:pt x="69088" y="8636"/>
                    <a:pt x="73025" y="12573"/>
                  </a:cubicBezTo>
                  <a:cubicBezTo>
                    <a:pt x="76962" y="16510"/>
                    <a:pt x="80137" y="21209"/>
                    <a:pt x="82296" y="26416"/>
                  </a:cubicBezTo>
                  <a:cubicBezTo>
                    <a:pt x="84455" y="31623"/>
                    <a:pt x="85598" y="37084"/>
                    <a:pt x="85598" y="42799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264539" y="2403891"/>
            <a:ext cx="8505053" cy="4782912"/>
          </a:xfrm>
          <a:custGeom>
            <a:avLst/>
            <a:gdLst/>
            <a:ahLst/>
            <a:cxnLst/>
            <a:rect r="r" b="b" t="t" l="l"/>
            <a:pathLst>
              <a:path h="4782912" w="8505053">
                <a:moveTo>
                  <a:pt x="0" y="0"/>
                </a:moveTo>
                <a:lnTo>
                  <a:pt x="8505053" y="0"/>
                </a:lnTo>
                <a:lnTo>
                  <a:pt x="8505053" y="4782912"/>
                </a:lnTo>
                <a:lnTo>
                  <a:pt x="0" y="478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333240" y="0"/>
            <a:ext cx="3468843" cy="1168965"/>
          </a:xfrm>
          <a:custGeom>
            <a:avLst/>
            <a:gdLst/>
            <a:ahLst/>
            <a:cxnLst/>
            <a:rect r="r" b="b" t="t" l="l"/>
            <a:pathLst>
              <a:path h="1168965" w="3468843">
                <a:moveTo>
                  <a:pt x="0" y="0"/>
                </a:moveTo>
                <a:lnTo>
                  <a:pt x="3468843" y="0"/>
                </a:lnTo>
                <a:lnTo>
                  <a:pt x="3468843" y="1168965"/>
                </a:lnTo>
                <a:lnTo>
                  <a:pt x="0" y="11689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11" t="-4492" r="-2827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0" y="0"/>
            <a:ext cx="18288000" cy="1196445"/>
            <a:chOff x="0" y="0"/>
            <a:chExt cx="18288000" cy="11964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288000" cy="1196468"/>
            </a:xfrm>
            <a:custGeom>
              <a:avLst/>
              <a:gdLst/>
              <a:ahLst/>
              <a:cxnLst/>
              <a:rect r="r" b="b" t="t" l="l"/>
              <a:pathLst>
                <a:path h="1196468" w="18288000">
                  <a:moveTo>
                    <a:pt x="0" y="0"/>
                  </a:moveTo>
                  <a:lnTo>
                    <a:pt x="0" y="1196468"/>
                  </a:lnTo>
                  <a:lnTo>
                    <a:pt x="18288000" y="1196468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794367" y="7345528"/>
            <a:ext cx="14699256" cy="3004966"/>
            <a:chOff x="0" y="0"/>
            <a:chExt cx="14699259" cy="30049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14572236" cy="2877949"/>
            </a:xfrm>
            <a:custGeom>
              <a:avLst/>
              <a:gdLst/>
              <a:ahLst/>
              <a:cxnLst/>
              <a:rect r="r" b="b" t="t" l="l"/>
              <a:pathLst>
                <a:path h="2877949" w="14572236">
                  <a:moveTo>
                    <a:pt x="0" y="0"/>
                  </a:moveTo>
                  <a:lnTo>
                    <a:pt x="0" y="2877949"/>
                  </a:lnTo>
                  <a:lnTo>
                    <a:pt x="14572236" y="2877949"/>
                  </a:lnTo>
                  <a:lnTo>
                    <a:pt x="1457223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3823970" y="444754"/>
              <a:ext cx="333502" cy="333375"/>
            </a:xfrm>
            <a:custGeom>
              <a:avLst/>
              <a:gdLst/>
              <a:ahLst/>
              <a:cxnLst/>
              <a:rect r="r" b="b" t="t" l="l"/>
              <a:pathLst>
                <a:path h="333375" w="333502">
                  <a:moveTo>
                    <a:pt x="0" y="333375"/>
                  </a:moveTo>
                  <a:lnTo>
                    <a:pt x="333503" y="333375"/>
                  </a:lnTo>
                  <a:lnTo>
                    <a:pt x="3335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328042" y="2475100"/>
            <a:ext cx="8271148" cy="4652524"/>
            <a:chOff x="0" y="0"/>
            <a:chExt cx="8271154" cy="46525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71133" cy="4652514"/>
            </a:xfrm>
            <a:custGeom>
              <a:avLst/>
              <a:gdLst/>
              <a:ahLst/>
              <a:cxnLst/>
              <a:rect r="r" b="b" t="t" l="l"/>
              <a:pathLst>
                <a:path h="4652514" w="8271133">
                  <a:moveTo>
                    <a:pt x="0" y="4652514"/>
                  </a:moveTo>
                  <a:lnTo>
                    <a:pt x="8271133" y="4652514"/>
                  </a:lnTo>
                  <a:lnTo>
                    <a:pt x="82711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559603" y="1609601"/>
            <a:ext cx="9371552" cy="71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6"/>
              </a:lnSpc>
            </a:pPr>
            <a:r>
              <a:rPr lang="en-US" b="true" sz="5251">
                <a:solidFill>
                  <a:srgbClr val="1CBFA2"/>
                </a:solidFill>
                <a:latin typeface="Arimo Bold"/>
                <a:ea typeface="Arimo Bold"/>
                <a:cs typeface="Arimo Bold"/>
                <a:sym typeface="Arimo Bold"/>
              </a:rPr>
              <a:t>Opportunity &amp; Differentiation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18099" y="2395928"/>
            <a:ext cx="8849563" cy="4790875"/>
          </a:xfrm>
          <a:custGeom>
            <a:avLst/>
            <a:gdLst/>
            <a:ahLst/>
            <a:cxnLst/>
            <a:rect r="r" b="b" t="t" l="l"/>
            <a:pathLst>
              <a:path h="4790875" w="8849563">
                <a:moveTo>
                  <a:pt x="0" y="0"/>
                </a:moveTo>
                <a:lnTo>
                  <a:pt x="8849563" y="0"/>
                </a:lnTo>
                <a:lnTo>
                  <a:pt x="8849563" y="4790875"/>
                </a:lnTo>
                <a:lnTo>
                  <a:pt x="0" y="4790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173043" y="2319357"/>
            <a:ext cx="61208" cy="74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b="true" sz="2625">
                <a:solidFill>
                  <a:srgbClr val="1CBFA2"/>
                </a:solidFill>
                <a:latin typeface="Literata Bold"/>
                <a:ea typeface="Literata Bold"/>
                <a:cs typeface="Literata Bold"/>
                <a:sym typeface="Literata Bold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54928" y="7695933"/>
            <a:ext cx="6040441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2"/>
              </a:lnSpc>
            </a:pPr>
            <a:r>
              <a:rPr lang="en-US" b="true" sz="2387">
                <a:solidFill>
                  <a:srgbClr val="1CBFA2"/>
                </a:solidFill>
                <a:latin typeface="Literata Bold"/>
                <a:ea typeface="Literata Bold"/>
                <a:cs typeface="Literata Bold"/>
                <a:sym typeface="Literata Bold"/>
              </a:rPr>
              <a:t>How Is It Different from Existing Ideas?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19134" y="2695565"/>
            <a:ext cx="4839833" cy="47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b="true" sz="2625">
                <a:solidFill>
                  <a:srgbClr val="FEFEFE"/>
                </a:solidFill>
                <a:latin typeface="Literata Bold"/>
                <a:ea typeface="Literata Bold"/>
                <a:cs typeface="Literata Bold"/>
                <a:sym typeface="Literata Bold"/>
              </a:rPr>
              <a:t>USP of the Proposed Solution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55580" y="2630538"/>
            <a:ext cx="5264553" cy="47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b="true" sz="2625">
                <a:solidFill>
                  <a:srgbClr val="FEFEFE"/>
                </a:solidFill>
                <a:latin typeface="Literata Bold"/>
                <a:ea typeface="Literata Bold"/>
                <a:cs typeface="Literata Bold"/>
                <a:sym typeface="Literata Bold"/>
              </a:rPr>
              <a:t>How Does It Solve the Problem?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23667" y="3523593"/>
            <a:ext cx="7022230" cy="317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029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True Agentic Proactivity:</a:t>
            </a:r>
            <a:r>
              <a:rPr lang="en-US" sz="20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Adapts plans after rejections and sends smart nudges automatically. </a:t>
            </a:r>
            <a:r>
              <a:rPr lang="en-US" sz="2029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Multi-Agent Collaboration:</a:t>
            </a:r>
            <a:r>
              <a:rPr lang="en-US" sz="20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Resume, jobs, roadmap, interviews, and networking agents work together. </a:t>
            </a:r>
            <a:r>
              <a:rPr lang="en-US" sz="2029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Real-Time &amp; India-Focused Insights: </a:t>
            </a:r>
            <a:r>
              <a:rPr lang="en-US" sz="20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Uses live market trends, hackathons, and role demands. </a:t>
            </a:r>
            <a:r>
              <a:rPr lang="en-US" sz="2029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Lightweight &amp; Accessible: </a:t>
            </a:r>
            <a:r>
              <a:rPr lang="en-US" sz="20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Simple web app using free tools—affordable and scalable.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16138" y="3524193"/>
            <a:ext cx="7415984" cy="317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3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30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Proactive Career Guidance: </a:t>
            </a:r>
            <a:r>
              <a:rPr lang="en-US" sz="203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Reduces indecision and job- search stress through structured planning. </a:t>
            </a:r>
            <a:r>
              <a:rPr lang="en-US" sz="2030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 Resume-Based Skill Gap Analysis:</a:t>
            </a:r>
            <a:r>
              <a:rPr lang="en-US" sz="203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Identifies missing skills and suggests in-demand learning paths. </a:t>
            </a:r>
            <a:r>
              <a:rPr lang="en-US" sz="2030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Automated Job Workflow: </a:t>
            </a:r>
            <a:r>
              <a:rPr lang="en-US" sz="203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Handles job discovery, deadline tracking, and application monitoring. </a:t>
            </a:r>
            <a:r>
              <a:rPr lang="en-US" sz="2030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Networking Support:</a:t>
            </a:r>
            <a:r>
              <a:rPr lang="en-US" sz="203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Generates personalized outreach for referrals and connections.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111646" y="8282597"/>
            <a:ext cx="12129021" cy="153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012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Beyond Job Portals: </a:t>
            </a:r>
            <a:r>
              <a:rPr lang="en-US" sz="201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Traditional platforms are passive listings requiring high manual effort. </a:t>
            </a:r>
            <a:r>
              <a:rPr lang="en-US" sz="2012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Beyond Chatbots: </a:t>
            </a:r>
            <a:r>
              <a:rPr lang="en-US" sz="201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Existing AI tools lack memory, planning, and adaptive actions. </a:t>
            </a:r>
            <a:r>
              <a:rPr lang="en-US" sz="2012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Agentic Intelligence:</a:t>
            </a:r>
            <a:r>
              <a:rPr lang="en-US" sz="201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CareerPilot AI thinks, plans, acts, and learns using multi-agent design. </a:t>
            </a:r>
            <a:r>
              <a:rPr lang="en-US" sz="2012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Persistent Career Memory:</a:t>
            </a:r>
            <a:r>
              <a:rPr lang="en-US" sz="201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Stores progress, rejections, and outcomes for long-term guidance.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386" y="1352321"/>
            <a:ext cx="60636" cy="606333"/>
            <a:chOff x="0" y="0"/>
            <a:chExt cx="60630" cy="606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575" cy="606300"/>
            </a:xfrm>
            <a:custGeom>
              <a:avLst/>
              <a:gdLst/>
              <a:ahLst/>
              <a:cxnLst/>
              <a:rect r="r" b="b" t="t" l="l"/>
              <a:pathLst>
                <a:path h="606300" w="60575">
                  <a:moveTo>
                    <a:pt x="0" y="0"/>
                  </a:moveTo>
                  <a:lnTo>
                    <a:pt x="60575" y="0"/>
                  </a:lnTo>
                  <a:lnTo>
                    <a:pt x="60575" y="606300"/>
                  </a:lnTo>
                  <a:lnTo>
                    <a:pt x="0" y="606300"/>
                  </a:lnTo>
                  <a:close/>
                </a:path>
              </a:pathLst>
            </a:custGeom>
            <a:solidFill>
              <a:srgbClr val="1CBFA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07892" y="7535770"/>
            <a:ext cx="5689397" cy="2646778"/>
          </a:xfrm>
          <a:custGeom>
            <a:avLst/>
            <a:gdLst/>
            <a:ahLst/>
            <a:cxnLst/>
            <a:rect r="r" b="b" t="t" l="l"/>
            <a:pathLst>
              <a:path h="2646778" w="5689397">
                <a:moveTo>
                  <a:pt x="0" y="0"/>
                </a:moveTo>
                <a:lnTo>
                  <a:pt x="5689397" y="0"/>
                </a:lnTo>
                <a:lnTo>
                  <a:pt x="5689397" y="2646779"/>
                </a:lnTo>
                <a:lnTo>
                  <a:pt x="0" y="2646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7892" y="2047580"/>
            <a:ext cx="5689397" cy="2646778"/>
          </a:xfrm>
          <a:custGeom>
            <a:avLst/>
            <a:gdLst/>
            <a:ahLst/>
            <a:cxnLst/>
            <a:rect r="r" b="b" t="t" l="l"/>
            <a:pathLst>
              <a:path h="2646778" w="5689397">
                <a:moveTo>
                  <a:pt x="0" y="0"/>
                </a:moveTo>
                <a:lnTo>
                  <a:pt x="5689397" y="0"/>
                </a:lnTo>
                <a:lnTo>
                  <a:pt x="5689397" y="2646778"/>
                </a:lnTo>
                <a:lnTo>
                  <a:pt x="0" y="2646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7892" y="4791675"/>
            <a:ext cx="5689397" cy="2646778"/>
          </a:xfrm>
          <a:custGeom>
            <a:avLst/>
            <a:gdLst/>
            <a:ahLst/>
            <a:cxnLst/>
            <a:rect r="r" b="b" t="t" l="l"/>
            <a:pathLst>
              <a:path h="2646778" w="5689397">
                <a:moveTo>
                  <a:pt x="0" y="0"/>
                </a:moveTo>
                <a:lnTo>
                  <a:pt x="5689397" y="0"/>
                </a:lnTo>
                <a:lnTo>
                  <a:pt x="5689397" y="2646778"/>
                </a:lnTo>
                <a:lnTo>
                  <a:pt x="0" y="264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97835" y="4791675"/>
            <a:ext cx="5689397" cy="2646778"/>
          </a:xfrm>
          <a:custGeom>
            <a:avLst/>
            <a:gdLst/>
            <a:ahLst/>
            <a:cxnLst/>
            <a:rect r="r" b="b" t="t" l="l"/>
            <a:pathLst>
              <a:path h="2646778" w="5689397">
                <a:moveTo>
                  <a:pt x="0" y="0"/>
                </a:moveTo>
                <a:lnTo>
                  <a:pt x="5689397" y="0"/>
                </a:lnTo>
                <a:lnTo>
                  <a:pt x="5689397" y="2646778"/>
                </a:lnTo>
                <a:lnTo>
                  <a:pt x="0" y="2646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97835" y="7535770"/>
            <a:ext cx="5689397" cy="2646778"/>
          </a:xfrm>
          <a:custGeom>
            <a:avLst/>
            <a:gdLst/>
            <a:ahLst/>
            <a:cxnLst/>
            <a:rect r="r" b="b" t="t" l="l"/>
            <a:pathLst>
              <a:path h="2646778" w="5689397">
                <a:moveTo>
                  <a:pt x="0" y="0"/>
                </a:moveTo>
                <a:lnTo>
                  <a:pt x="5689397" y="0"/>
                </a:lnTo>
                <a:lnTo>
                  <a:pt x="5689397" y="2646779"/>
                </a:lnTo>
                <a:lnTo>
                  <a:pt x="0" y="26467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97835" y="2047580"/>
            <a:ext cx="5689397" cy="2646778"/>
          </a:xfrm>
          <a:custGeom>
            <a:avLst/>
            <a:gdLst/>
            <a:ahLst/>
            <a:cxnLst/>
            <a:rect r="r" b="b" t="t" l="l"/>
            <a:pathLst>
              <a:path h="2646778" w="5689397">
                <a:moveTo>
                  <a:pt x="0" y="0"/>
                </a:moveTo>
                <a:lnTo>
                  <a:pt x="5689397" y="0"/>
                </a:lnTo>
                <a:lnTo>
                  <a:pt x="5689397" y="2646778"/>
                </a:lnTo>
                <a:lnTo>
                  <a:pt x="0" y="264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3048" y="-3048"/>
            <a:ext cx="18290191" cy="1192540"/>
            <a:chOff x="0" y="0"/>
            <a:chExt cx="18290197" cy="11925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048" y="3048"/>
              <a:ext cx="18287115" cy="1189484"/>
            </a:xfrm>
            <a:custGeom>
              <a:avLst/>
              <a:gdLst/>
              <a:ahLst/>
              <a:cxnLst/>
              <a:rect r="r" b="b" t="t" l="l"/>
              <a:pathLst>
                <a:path h="1189484" w="18287115">
                  <a:moveTo>
                    <a:pt x="0" y="0"/>
                  </a:moveTo>
                  <a:lnTo>
                    <a:pt x="0" y="1189484"/>
                  </a:lnTo>
                  <a:lnTo>
                    <a:pt x="18287115" y="1189484"/>
                  </a:lnTo>
                  <a:lnTo>
                    <a:pt x="18287115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2087968" y="4791675"/>
            <a:ext cx="5689397" cy="2646778"/>
          </a:xfrm>
          <a:custGeom>
            <a:avLst/>
            <a:gdLst/>
            <a:ahLst/>
            <a:cxnLst/>
            <a:rect r="r" b="b" t="t" l="l"/>
            <a:pathLst>
              <a:path h="2646778" w="5689397">
                <a:moveTo>
                  <a:pt x="0" y="0"/>
                </a:moveTo>
                <a:lnTo>
                  <a:pt x="5689397" y="0"/>
                </a:lnTo>
                <a:lnTo>
                  <a:pt x="5689397" y="2646778"/>
                </a:lnTo>
                <a:lnTo>
                  <a:pt x="0" y="2646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087968" y="7535770"/>
            <a:ext cx="5689397" cy="2646778"/>
          </a:xfrm>
          <a:custGeom>
            <a:avLst/>
            <a:gdLst/>
            <a:ahLst/>
            <a:cxnLst/>
            <a:rect r="r" b="b" t="t" l="l"/>
            <a:pathLst>
              <a:path h="2646778" w="5689397">
                <a:moveTo>
                  <a:pt x="0" y="0"/>
                </a:moveTo>
                <a:lnTo>
                  <a:pt x="5689397" y="0"/>
                </a:lnTo>
                <a:lnTo>
                  <a:pt x="5689397" y="2646779"/>
                </a:lnTo>
                <a:lnTo>
                  <a:pt x="0" y="26467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087968" y="2047580"/>
            <a:ext cx="5689397" cy="2646778"/>
          </a:xfrm>
          <a:custGeom>
            <a:avLst/>
            <a:gdLst/>
            <a:ahLst/>
            <a:cxnLst/>
            <a:rect r="r" b="b" t="t" l="l"/>
            <a:pathLst>
              <a:path h="2646778" w="5689397">
                <a:moveTo>
                  <a:pt x="0" y="0"/>
                </a:moveTo>
                <a:lnTo>
                  <a:pt x="5689397" y="0"/>
                </a:lnTo>
                <a:lnTo>
                  <a:pt x="5689397" y="2646778"/>
                </a:lnTo>
                <a:lnTo>
                  <a:pt x="0" y="26467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333240" y="0"/>
            <a:ext cx="3468843" cy="1168965"/>
          </a:xfrm>
          <a:custGeom>
            <a:avLst/>
            <a:gdLst/>
            <a:ahLst/>
            <a:cxnLst/>
            <a:rect r="r" b="b" t="t" l="l"/>
            <a:pathLst>
              <a:path h="1168965" w="3468843">
                <a:moveTo>
                  <a:pt x="0" y="0"/>
                </a:moveTo>
                <a:lnTo>
                  <a:pt x="3468843" y="0"/>
                </a:lnTo>
                <a:lnTo>
                  <a:pt x="3468843" y="1168965"/>
                </a:lnTo>
                <a:lnTo>
                  <a:pt x="0" y="116896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2811" t="-4492" r="-2827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07892" y="7535770"/>
            <a:ext cx="5692321" cy="2649684"/>
            <a:chOff x="0" y="0"/>
            <a:chExt cx="5692318" cy="26496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0" y="63500"/>
              <a:ext cx="5565262" cy="2522726"/>
            </a:xfrm>
            <a:custGeom>
              <a:avLst/>
              <a:gdLst/>
              <a:ahLst/>
              <a:cxnLst/>
              <a:rect r="r" b="b" t="t" l="l"/>
              <a:pathLst>
                <a:path h="2522726" w="5565262">
                  <a:moveTo>
                    <a:pt x="0" y="2522725"/>
                  </a:moveTo>
                  <a:lnTo>
                    <a:pt x="5565262" y="2522725"/>
                  </a:lnTo>
                  <a:lnTo>
                    <a:pt x="55652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542798" y="560577"/>
              <a:ext cx="321310" cy="285750"/>
            </a:xfrm>
            <a:custGeom>
              <a:avLst/>
              <a:gdLst/>
              <a:ahLst/>
              <a:cxnLst/>
              <a:rect r="r" b="b" t="t" l="l"/>
              <a:pathLst>
                <a:path h="285750" w="321310">
                  <a:moveTo>
                    <a:pt x="0" y="285750"/>
                  </a:moveTo>
                  <a:lnTo>
                    <a:pt x="321309" y="285750"/>
                  </a:lnTo>
                  <a:lnTo>
                    <a:pt x="32130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07892" y="2047580"/>
            <a:ext cx="5692321" cy="2649684"/>
            <a:chOff x="0" y="0"/>
            <a:chExt cx="5692318" cy="26496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0" y="63500"/>
              <a:ext cx="5565262" cy="2522726"/>
            </a:xfrm>
            <a:custGeom>
              <a:avLst/>
              <a:gdLst/>
              <a:ahLst/>
              <a:cxnLst/>
              <a:rect r="r" b="b" t="t" l="l"/>
              <a:pathLst>
                <a:path h="2522726" w="5565262">
                  <a:moveTo>
                    <a:pt x="0" y="2522725"/>
                  </a:moveTo>
                  <a:lnTo>
                    <a:pt x="5565262" y="2522725"/>
                  </a:lnTo>
                  <a:lnTo>
                    <a:pt x="55652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60577" y="560577"/>
              <a:ext cx="285750" cy="285750"/>
            </a:xfrm>
            <a:custGeom>
              <a:avLst/>
              <a:gdLst/>
              <a:ahLst/>
              <a:cxnLst/>
              <a:rect r="r" b="b" t="t" l="l"/>
              <a:pathLst>
                <a:path h="285750" w="285750">
                  <a:moveTo>
                    <a:pt x="0" y="285750"/>
                  </a:moveTo>
                  <a:lnTo>
                    <a:pt x="285750" y="285750"/>
                  </a:lnTo>
                  <a:lnTo>
                    <a:pt x="2857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07892" y="4791675"/>
            <a:ext cx="5692321" cy="2649684"/>
            <a:chOff x="0" y="0"/>
            <a:chExt cx="5692318" cy="26496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0" y="63500"/>
              <a:ext cx="5565262" cy="2522725"/>
            </a:xfrm>
            <a:custGeom>
              <a:avLst/>
              <a:gdLst/>
              <a:ahLst/>
              <a:cxnLst/>
              <a:rect r="r" b="b" t="t" l="l"/>
              <a:pathLst>
                <a:path h="2522725" w="5565262">
                  <a:moveTo>
                    <a:pt x="0" y="2522725"/>
                  </a:moveTo>
                  <a:lnTo>
                    <a:pt x="5565262" y="2522725"/>
                  </a:lnTo>
                  <a:lnTo>
                    <a:pt x="55652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560577" y="560577"/>
              <a:ext cx="285750" cy="285750"/>
            </a:xfrm>
            <a:custGeom>
              <a:avLst/>
              <a:gdLst/>
              <a:ahLst/>
              <a:cxnLst/>
              <a:rect r="r" b="b" t="t" l="l"/>
              <a:pathLst>
                <a:path h="285750" w="285750">
                  <a:moveTo>
                    <a:pt x="0" y="285750"/>
                  </a:moveTo>
                  <a:lnTo>
                    <a:pt x="285750" y="285750"/>
                  </a:lnTo>
                  <a:lnTo>
                    <a:pt x="2857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297835" y="4791675"/>
            <a:ext cx="5692321" cy="2649684"/>
            <a:chOff x="0" y="0"/>
            <a:chExt cx="5692318" cy="264967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0" y="63500"/>
              <a:ext cx="5565262" cy="2522725"/>
            </a:xfrm>
            <a:custGeom>
              <a:avLst/>
              <a:gdLst/>
              <a:ahLst/>
              <a:cxnLst/>
              <a:rect r="r" b="b" t="t" l="l"/>
              <a:pathLst>
                <a:path h="2522725" w="5565262">
                  <a:moveTo>
                    <a:pt x="0" y="2522725"/>
                  </a:moveTo>
                  <a:lnTo>
                    <a:pt x="5565261" y="2522725"/>
                  </a:lnTo>
                  <a:lnTo>
                    <a:pt x="55652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560577" y="560577"/>
              <a:ext cx="285750" cy="285750"/>
            </a:xfrm>
            <a:custGeom>
              <a:avLst/>
              <a:gdLst/>
              <a:ahLst/>
              <a:cxnLst/>
              <a:rect r="r" b="b" t="t" l="l"/>
              <a:pathLst>
                <a:path h="285750" w="285750">
                  <a:moveTo>
                    <a:pt x="0" y="285750"/>
                  </a:moveTo>
                  <a:lnTo>
                    <a:pt x="285750" y="285750"/>
                  </a:lnTo>
                  <a:lnTo>
                    <a:pt x="2857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297835" y="7535770"/>
            <a:ext cx="5692321" cy="2649684"/>
            <a:chOff x="0" y="0"/>
            <a:chExt cx="5692318" cy="264967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63500" y="63500"/>
              <a:ext cx="5565262" cy="2522726"/>
            </a:xfrm>
            <a:custGeom>
              <a:avLst/>
              <a:gdLst/>
              <a:ahLst/>
              <a:cxnLst/>
              <a:rect r="r" b="b" t="t" l="l"/>
              <a:pathLst>
                <a:path h="2522726" w="5565262">
                  <a:moveTo>
                    <a:pt x="0" y="2522725"/>
                  </a:moveTo>
                  <a:lnTo>
                    <a:pt x="5565261" y="2522725"/>
                  </a:lnTo>
                  <a:lnTo>
                    <a:pt x="55652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560577" y="560577"/>
              <a:ext cx="285750" cy="285750"/>
            </a:xfrm>
            <a:custGeom>
              <a:avLst/>
              <a:gdLst/>
              <a:ahLst/>
              <a:cxnLst/>
              <a:rect r="r" b="b" t="t" l="l"/>
              <a:pathLst>
                <a:path h="285750" w="285750">
                  <a:moveTo>
                    <a:pt x="0" y="285750"/>
                  </a:moveTo>
                  <a:lnTo>
                    <a:pt x="285750" y="285750"/>
                  </a:lnTo>
                  <a:lnTo>
                    <a:pt x="2857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297835" y="2047580"/>
            <a:ext cx="5692321" cy="2649684"/>
            <a:chOff x="0" y="0"/>
            <a:chExt cx="5692318" cy="264967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0" y="63500"/>
              <a:ext cx="5565262" cy="2522726"/>
            </a:xfrm>
            <a:custGeom>
              <a:avLst/>
              <a:gdLst/>
              <a:ahLst/>
              <a:cxnLst/>
              <a:rect r="r" b="b" t="t" l="l"/>
              <a:pathLst>
                <a:path h="2522726" w="5565262">
                  <a:moveTo>
                    <a:pt x="0" y="2522725"/>
                  </a:moveTo>
                  <a:lnTo>
                    <a:pt x="5565261" y="2522725"/>
                  </a:lnTo>
                  <a:lnTo>
                    <a:pt x="55652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596264" y="560577"/>
              <a:ext cx="214376" cy="285750"/>
            </a:xfrm>
            <a:custGeom>
              <a:avLst/>
              <a:gdLst/>
              <a:ahLst/>
              <a:cxnLst/>
              <a:rect r="r" b="b" t="t" l="l"/>
              <a:pathLst>
                <a:path h="285750" w="214376">
                  <a:moveTo>
                    <a:pt x="0" y="285750"/>
                  </a:moveTo>
                  <a:lnTo>
                    <a:pt x="214376" y="285750"/>
                  </a:lnTo>
                  <a:lnTo>
                    <a:pt x="2143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0" y="0"/>
            <a:ext cx="18288000" cy="1196445"/>
            <a:chOff x="0" y="0"/>
            <a:chExt cx="18288000" cy="119644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288000" cy="1196468"/>
            </a:xfrm>
            <a:custGeom>
              <a:avLst/>
              <a:gdLst/>
              <a:ahLst/>
              <a:cxnLst/>
              <a:rect r="r" b="b" t="t" l="l"/>
              <a:pathLst>
                <a:path h="1196468" w="18288000">
                  <a:moveTo>
                    <a:pt x="0" y="0"/>
                  </a:moveTo>
                  <a:lnTo>
                    <a:pt x="0" y="1196468"/>
                  </a:lnTo>
                  <a:lnTo>
                    <a:pt x="18288000" y="1196468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151471" y="7599264"/>
            <a:ext cx="5565324" cy="2522677"/>
            <a:chOff x="0" y="0"/>
            <a:chExt cx="5565318" cy="252267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565261" cy="2522725"/>
            </a:xfrm>
            <a:custGeom>
              <a:avLst/>
              <a:gdLst/>
              <a:ahLst/>
              <a:cxnLst/>
              <a:rect r="r" b="b" t="t" l="l"/>
              <a:pathLst>
                <a:path h="2522725" w="5565261">
                  <a:moveTo>
                    <a:pt x="0" y="2522725"/>
                  </a:moveTo>
                  <a:lnTo>
                    <a:pt x="5565261" y="2522725"/>
                  </a:lnTo>
                  <a:lnTo>
                    <a:pt x="55652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087968" y="4791675"/>
            <a:ext cx="5692321" cy="2649684"/>
            <a:chOff x="0" y="0"/>
            <a:chExt cx="5692318" cy="264967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63500" y="63500"/>
              <a:ext cx="5565261" cy="2522725"/>
            </a:xfrm>
            <a:custGeom>
              <a:avLst/>
              <a:gdLst/>
              <a:ahLst/>
              <a:cxnLst/>
              <a:rect r="r" b="b" t="t" l="l"/>
              <a:pathLst>
                <a:path h="2522725" w="5565261">
                  <a:moveTo>
                    <a:pt x="0" y="2522725"/>
                  </a:moveTo>
                  <a:lnTo>
                    <a:pt x="5565261" y="2522725"/>
                  </a:lnTo>
                  <a:lnTo>
                    <a:pt x="55652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524890" y="560577"/>
              <a:ext cx="357124" cy="285750"/>
            </a:xfrm>
            <a:custGeom>
              <a:avLst/>
              <a:gdLst/>
              <a:ahLst/>
              <a:cxnLst/>
              <a:rect r="r" b="b" t="t" l="l"/>
              <a:pathLst>
                <a:path h="285750" w="357124">
                  <a:moveTo>
                    <a:pt x="0" y="285750"/>
                  </a:moveTo>
                  <a:lnTo>
                    <a:pt x="357124" y="285750"/>
                  </a:lnTo>
                  <a:lnTo>
                    <a:pt x="3571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087968" y="2047580"/>
            <a:ext cx="5692321" cy="2649684"/>
            <a:chOff x="0" y="0"/>
            <a:chExt cx="5692318" cy="264967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63500" y="63500"/>
              <a:ext cx="5565261" cy="2522726"/>
            </a:xfrm>
            <a:custGeom>
              <a:avLst/>
              <a:gdLst/>
              <a:ahLst/>
              <a:cxnLst/>
              <a:rect r="r" b="b" t="t" l="l"/>
              <a:pathLst>
                <a:path h="2522726" w="5565261">
                  <a:moveTo>
                    <a:pt x="0" y="2522725"/>
                  </a:moveTo>
                  <a:lnTo>
                    <a:pt x="5565261" y="2522725"/>
                  </a:lnTo>
                  <a:lnTo>
                    <a:pt x="55652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560577" y="560577"/>
              <a:ext cx="285750" cy="285750"/>
            </a:xfrm>
            <a:custGeom>
              <a:avLst/>
              <a:gdLst/>
              <a:ahLst/>
              <a:cxnLst/>
              <a:rect r="r" b="b" t="t" l="l"/>
              <a:pathLst>
                <a:path h="285750" w="285750">
                  <a:moveTo>
                    <a:pt x="0" y="285750"/>
                  </a:moveTo>
                  <a:lnTo>
                    <a:pt x="285750" y="285750"/>
                  </a:lnTo>
                  <a:lnTo>
                    <a:pt x="2857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813921" y="1215447"/>
            <a:ext cx="4391949" cy="94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7"/>
              </a:lnSpc>
            </a:pPr>
            <a:r>
              <a:rPr lang="en-US" b="true" sz="5398">
                <a:solidFill>
                  <a:srgbClr val="1CBFA2"/>
                </a:solidFill>
                <a:latin typeface="Arimo Bold"/>
                <a:ea typeface="Arimo Bold"/>
                <a:cs typeface="Arimo Bold"/>
                <a:sym typeface="Arimo Bold"/>
              </a:rPr>
              <a:t>Key Features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68509" y="8756933"/>
            <a:ext cx="4277830" cy="103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4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Mock Interviews</a:t>
            </a:r>
          </a:p>
          <a:p>
            <a:pPr algn="l">
              <a:lnSpc>
                <a:spcPts val="2324"/>
              </a:lnSpc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Role-specific practice with PYQs and feedback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68509" y="6012837"/>
            <a:ext cx="4949390" cy="103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4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Skill Roadmaps &amp; Projects</a:t>
            </a:r>
          </a:p>
          <a:p>
            <a:pPr algn="l">
              <a:lnSpc>
                <a:spcPts val="2324"/>
              </a:lnSpc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Personalized learning plans with timelines and courses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68509" y="3268742"/>
            <a:ext cx="4384081" cy="103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4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Self-Assessment &amp; Career Paths</a:t>
            </a:r>
          </a:p>
          <a:p>
            <a:pPr algn="l">
              <a:lnSpc>
                <a:spcPts val="2324"/>
              </a:lnSpc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Smart quizzes + resume analysis → 3-5 personalized career suggestions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658461" y="8756933"/>
            <a:ext cx="4801181" cy="103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4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Progress &amp; Feedback Loop</a:t>
            </a:r>
          </a:p>
          <a:p>
            <a:pPr algn="l">
              <a:lnSpc>
                <a:spcPts val="2324"/>
              </a:lnSpc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Weekly dashboard with persistent career memory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658461" y="3268742"/>
            <a:ext cx="4377309" cy="103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4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Resume Analysis &amp; Skill Gaps</a:t>
            </a:r>
          </a:p>
          <a:p>
            <a:pPr algn="l">
              <a:lnSpc>
                <a:spcPts val="2324"/>
              </a:lnSpc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Extracts skills, highlights weaknesses, explains rejections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658461" y="6012837"/>
            <a:ext cx="4780902" cy="103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4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Application Tracking &amp; Automation</a:t>
            </a:r>
          </a:p>
          <a:p>
            <a:pPr algn="l">
              <a:lnSpc>
                <a:spcPts val="2324"/>
              </a:lnSpc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Tracks applications, deadlines, rejections, adapts plans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448594" y="8756933"/>
            <a:ext cx="4244969" cy="103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4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Stress Reduction</a:t>
            </a:r>
          </a:p>
          <a:p>
            <a:pPr algn="l">
              <a:lnSpc>
                <a:spcPts val="2324"/>
              </a:lnSpc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Automates repetitive tasks, provides supportive guidance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448594" y="6012837"/>
            <a:ext cx="4445365" cy="103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4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Networking &amp; Referrals</a:t>
            </a:r>
          </a:p>
          <a:p>
            <a:pPr algn="l">
              <a:lnSpc>
                <a:spcPts val="2324"/>
              </a:lnSpc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Finds relevant connections, generates outreach messages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448594" y="3268742"/>
            <a:ext cx="4751784" cy="103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4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Job Matching &amp; Trend Insights</a:t>
            </a:r>
          </a:p>
          <a:p>
            <a:pPr algn="l">
              <a:lnSpc>
                <a:spcPts val="2324"/>
              </a:lnSpc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Matches skills to in-demand roles, shows readiness scores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48" y="-3048"/>
            <a:ext cx="18290191" cy="1192540"/>
            <a:chOff x="0" y="0"/>
            <a:chExt cx="18290197" cy="119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048" y="3048"/>
              <a:ext cx="18287115" cy="1189484"/>
            </a:xfrm>
            <a:custGeom>
              <a:avLst/>
              <a:gdLst/>
              <a:ahLst/>
              <a:cxnLst/>
              <a:rect r="r" b="b" t="t" l="l"/>
              <a:pathLst>
                <a:path h="1189484" w="18287115">
                  <a:moveTo>
                    <a:pt x="0" y="0"/>
                  </a:moveTo>
                  <a:lnTo>
                    <a:pt x="0" y="1189484"/>
                  </a:lnTo>
                  <a:lnTo>
                    <a:pt x="18287115" y="1189484"/>
                  </a:lnTo>
                  <a:lnTo>
                    <a:pt x="18287115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74627" y="1382154"/>
            <a:ext cx="57140" cy="571405"/>
            <a:chOff x="0" y="0"/>
            <a:chExt cx="57137" cy="5713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147" cy="571367"/>
            </a:xfrm>
            <a:custGeom>
              <a:avLst/>
              <a:gdLst/>
              <a:ahLst/>
              <a:cxnLst/>
              <a:rect r="r" b="b" t="t" l="l"/>
              <a:pathLst>
                <a:path h="571367" w="57147">
                  <a:moveTo>
                    <a:pt x="0" y="0"/>
                  </a:moveTo>
                  <a:lnTo>
                    <a:pt x="0" y="571367"/>
                  </a:lnTo>
                  <a:lnTo>
                    <a:pt x="57147" y="571367"/>
                  </a:lnTo>
                  <a:lnTo>
                    <a:pt x="57147" y="0"/>
                  </a:lnTo>
                  <a:close/>
                </a:path>
              </a:pathLst>
            </a:custGeom>
            <a:solidFill>
              <a:srgbClr val="1CBFA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333240" y="0"/>
            <a:ext cx="3468843" cy="1168965"/>
          </a:xfrm>
          <a:custGeom>
            <a:avLst/>
            <a:gdLst/>
            <a:ahLst/>
            <a:cxnLst/>
            <a:rect r="r" b="b" t="t" l="l"/>
            <a:pathLst>
              <a:path h="1168965" w="3468843">
                <a:moveTo>
                  <a:pt x="0" y="0"/>
                </a:moveTo>
                <a:lnTo>
                  <a:pt x="3468843" y="0"/>
                </a:lnTo>
                <a:lnTo>
                  <a:pt x="3468843" y="1168965"/>
                </a:lnTo>
                <a:lnTo>
                  <a:pt x="0" y="1168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11" t="-4492" r="-2827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649636"/>
            <a:ext cx="16554450" cy="7637364"/>
          </a:xfrm>
          <a:custGeom>
            <a:avLst/>
            <a:gdLst/>
            <a:ahLst/>
            <a:cxnLst/>
            <a:rect r="r" b="b" t="t" l="l"/>
            <a:pathLst>
              <a:path h="7637364" w="16554450">
                <a:moveTo>
                  <a:pt x="0" y="0"/>
                </a:moveTo>
                <a:lnTo>
                  <a:pt x="16554450" y="0"/>
                </a:lnTo>
                <a:lnTo>
                  <a:pt x="16554450" y="7637364"/>
                </a:lnTo>
                <a:lnTo>
                  <a:pt x="0" y="7637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04" r="0" b="-1311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0" y="0"/>
            <a:ext cx="18288000" cy="1196445"/>
            <a:chOff x="0" y="0"/>
            <a:chExt cx="18288000" cy="11964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1196468"/>
            </a:xfrm>
            <a:custGeom>
              <a:avLst/>
              <a:gdLst/>
              <a:ahLst/>
              <a:cxnLst/>
              <a:rect r="r" b="b" t="t" l="l"/>
              <a:pathLst>
                <a:path h="1196468" w="18288000">
                  <a:moveTo>
                    <a:pt x="0" y="0"/>
                  </a:moveTo>
                  <a:lnTo>
                    <a:pt x="0" y="1196468"/>
                  </a:lnTo>
                  <a:lnTo>
                    <a:pt x="18288000" y="1196468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1564062"/>
            <a:ext cx="4089883" cy="59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b="true" sz="4898">
                <a:solidFill>
                  <a:srgbClr val="1CBFA2"/>
                </a:solidFill>
                <a:latin typeface="Arimo Bold"/>
                <a:ea typeface="Arimo Bold"/>
                <a:cs typeface="Arimo Bold"/>
                <a:sym typeface="Arimo Bold"/>
              </a:rPr>
              <a:t>Process 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2638" y="1887150"/>
            <a:ext cx="69933" cy="62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3"/>
              </a:lnSpc>
            </a:pPr>
            <a:r>
              <a:rPr lang="en-US" sz="224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4627" y="2125275"/>
            <a:ext cx="5082873" cy="38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From</a:t>
            </a:r>
            <a:r>
              <a:rPr lang="en-US" sz="224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224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resume</a:t>
            </a:r>
            <a:r>
              <a:rPr lang="en-US" sz="224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224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upload</a:t>
            </a:r>
            <a:r>
              <a:rPr lang="en-US" sz="224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224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to</a:t>
            </a:r>
            <a:r>
              <a:rPr lang="en-US" sz="224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224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career</a:t>
            </a:r>
            <a:r>
              <a:rPr lang="en-US" sz="224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2249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success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29" y="6581032"/>
            <a:ext cx="10058400" cy="3631082"/>
          </a:xfrm>
          <a:custGeom>
            <a:avLst/>
            <a:gdLst/>
            <a:ahLst/>
            <a:cxnLst/>
            <a:rect r="r" b="b" t="t" l="l"/>
            <a:pathLst>
              <a:path h="3631082" w="10058400">
                <a:moveTo>
                  <a:pt x="0" y="0"/>
                </a:moveTo>
                <a:lnTo>
                  <a:pt x="10058400" y="0"/>
                </a:lnTo>
                <a:lnTo>
                  <a:pt x="10058400" y="3631082"/>
                </a:lnTo>
                <a:lnTo>
                  <a:pt x="0" y="3631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7689" y="2434123"/>
            <a:ext cx="16713413" cy="4035838"/>
          </a:xfrm>
          <a:custGeom>
            <a:avLst/>
            <a:gdLst/>
            <a:ahLst/>
            <a:cxnLst/>
            <a:rect r="r" b="b" t="t" l="l"/>
            <a:pathLst>
              <a:path h="4035838" w="16713413">
                <a:moveTo>
                  <a:pt x="0" y="0"/>
                </a:moveTo>
                <a:lnTo>
                  <a:pt x="16713413" y="0"/>
                </a:lnTo>
                <a:lnTo>
                  <a:pt x="16713413" y="4035838"/>
                </a:lnTo>
                <a:lnTo>
                  <a:pt x="0" y="4035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36322" y="8099212"/>
            <a:ext cx="1990725" cy="1962150"/>
          </a:xfrm>
          <a:custGeom>
            <a:avLst/>
            <a:gdLst/>
            <a:ahLst/>
            <a:cxnLst/>
            <a:rect r="r" b="b" t="t" l="l"/>
            <a:pathLst>
              <a:path h="1962150" w="1990725">
                <a:moveTo>
                  <a:pt x="0" y="0"/>
                </a:moveTo>
                <a:lnTo>
                  <a:pt x="1990725" y="0"/>
                </a:lnTo>
                <a:lnTo>
                  <a:pt x="1990725" y="1962150"/>
                </a:lnTo>
                <a:lnTo>
                  <a:pt x="0" y="1962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512" r="0" b="-471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32398" y="6860743"/>
            <a:ext cx="1276350" cy="1409700"/>
          </a:xfrm>
          <a:custGeom>
            <a:avLst/>
            <a:gdLst/>
            <a:ahLst/>
            <a:cxnLst/>
            <a:rect r="r" b="b" t="t" l="l"/>
            <a:pathLst>
              <a:path h="1409700" w="1276350">
                <a:moveTo>
                  <a:pt x="0" y="0"/>
                </a:moveTo>
                <a:lnTo>
                  <a:pt x="1276350" y="0"/>
                </a:lnTo>
                <a:lnTo>
                  <a:pt x="127635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3048" y="-3048"/>
            <a:ext cx="18290191" cy="1192540"/>
            <a:chOff x="0" y="0"/>
            <a:chExt cx="18290197" cy="119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048" y="3048"/>
              <a:ext cx="18287115" cy="1189484"/>
            </a:xfrm>
            <a:custGeom>
              <a:avLst/>
              <a:gdLst/>
              <a:ahLst/>
              <a:cxnLst/>
              <a:rect r="r" b="b" t="t" l="l"/>
              <a:pathLst>
                <a:path h="1189484" w="18287115">
                  <a:moveTo>
                    <a:pt x="0" y="0"/>
                  </a:moveTo>
                  <a:lnTo>
                    <a:pt x="0" y="1189484"/>
                  </a:lnTo>
                  <a:lnTo>
                    <a:pt x="18287115" y="1189484"/>
                  </a:lnTo>
                  <a:lnTo>
                    <a:pt x="18287115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333240" y="0"/>
            <a:ext cx="3468843" cy="1168965"/>
          </a:xfrm>
          <a:custGeom>
            <a:avLst/>
            <a:gdLst/>
            <a:ahLst/>
            <a:cxnLst/>
            <a:rect r="r" b="b" t="t" l="l"/>
            <a:pathLst>
              <a:path h="1168965" w="3468843">
                <a:moveTo>
                  <a:pt x="0" y="0"/>
                </a:moveTo>
                <a:lnTo>
                  <a:pt x="3468843" y="0"/>
                </a:lnTo>
                <a:lnTo>
                  <a:pt x="3468843" y="1168965"/>
                </a:lnTo>
                <a:lnTo>
                  <a:pt x="0" y="11689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811" t="-4492" r="-2827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0" y="0"/>
            <a:ext cx="18288000" cy="1196445"/>
            <a:chOff x="0" y="0"/>
            <a:chExt cx="18288000" cy="11964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1196468"/>
            </a:xfrm>
            <a:custGeom>
              <a:avLst/>
              <a:gdLst/>
              <a:ahLst/>
              <a:cxnLst/>
              <a:rect r="r" b="b" t="t" l="l"/>
              <a:pathLst>
                <a:path h="1196468" w="18288000">
                  <a:moveTo>
                    <a:pt x="0" y="0"/>
                  </a:moveTo>
                  <a:lnTo>
                    <a:pt x="0" y="1196468"/>
                  </a:lnTo>
                  <a:lnTo>
                    <a:pt x="18288000" y="1196468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84746" y="1561338"/>
            <a:ext cx="57140" cy="571405"/>
            <a:chOff x="0" y="0"/>
            <a:chExt cx="57137" cy="5713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147" cy="571367"/>
            </a:xfrm>
            <a:custGeom>
              <a:avLst/>
              <a:gdLst/>
              <a:ahLst/>
              <a:cxnLst/>
              <a:rect r="r" b="b" t="t" l="l"/>
              <a:pathLst>
                <a:path h="571367" w="57147">
                  <a:moveTo>
                    <a:pt x="0" y="0"/>
                  </a:moveTo>
                  <a:lnTo>
                    <a:pt x="57147" y="0"/>
                  </a:lnTo>
                  <a:lnTo>
                    <a:pt x="57147" y="571367"/>
                  </a:lnTo>
                  <a:lnTo>
                    <a:pt x="0" y="571367"/>
                  </a:lnTo>
                  <a:close/>
                </a:path>
              </a:pathLst>
            </a:custGeom>
            <a:solidFill>
              <a:srgbClr val="1CBFA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2634906" y="8270443"/>
            <a:ext cx="1553741" cy="1553741"/>
          </a:xfrm>
          <a:custGeom>
            <a:avLst/>
            <a:gdLst/>
            <a:ahLst/>
            <a:cxnLst/>
            <a:rect r="r" b="b" t="t" l="l"/>
            <a:pathLst>
              <a:path h="1553741" w="1553741">
                <a:moveTo>
                  <a:pt x="0" y="0"/>
                </a:moveTo>
                <a:lnTo>
                  <a:pt x="1553741" y="0"/>
                </a:lnTo>
                <a:lnTo>
                  <a:pt x="1553741" y="1553741"/>
                </a:lnTo>
                <a:lnTo>
                  <a:pt x="0" y="15537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13623" y="6653257"/>
            <a:ext cx="1743316" cy="1743316"/>
          </a:xfrm>
          <a:custGeom>
            <a:avLst/>
            <a:gdLst/>
            <a:ahLst/>
            <a:cxnLst/>
            <a:rect r="r" b="b" t="t" l="l"/>
            <a:pathLst>
              <a:path h="1743316" w="1743316">
                <a:moveTo>
                  <a:pt x="0" y="0"/>
                </a:moveTo>
                <a:lnTo>
                  <a:pt x="1743316" y="0"/>
                </a:lnTo>
                <a:lnTo>
                  <a:pt x="1743316" y="1743316"/>
                </a:lnTo>
                <a:lnTo>
                  <a:pt x="0" y="17433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161057" y="6442296"/>
            <a:ext cx="2142691" cy="2142691"/>
          </a:xfrm>
          <a:custGeom>
            <a:avLst/>
            <a:gdLst/>
            <a:ahLst/>
            <a:cxnLst/>
            <a:rect r="r" b="b" t="t" l="l"/>
            <a:pathLst>
              <a:path h="2142691" w="2142691">
                <a:moveTo>
                  <a:pt x="0" y="0"/>
                </a:moveTo>
                <a:lnTo>
                  <a:pt x="2142691" y="0"/>
                </a:lnTo>
                <a:lnTo>
                  <a:pt x="2142691" y="2142691"/>
                </a:lnTo>
                <a:lnTo>
                  <a:pt x="0" y="214269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4442" y="1462030"/>
            <a:ext cx="6065301" cy="84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b="true" sz="4899">
                <a:solidFill>
                  <a:srgbClr val="1CBFA2"/>
                </a:solidFill>
                <a:latin typeface="Arimo Bold"/>
                <a:ea typeface="Arimo Bold"/>
                <a:cs typeface="Arimo Bold"/>
                <a:sym typeface="Arimo Bold"/>
              </a:rPr>
              <a:t>AI TECHNOLOGIES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2807" y="6774761"/>
            <a:ext cx="3446355" cy="495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CBFA2"/>
                </a:solidFill>
                <a:latin typeface="Arimo"/>
                <a:ea typeface="Arimo"/>
                <a:cs typeface="Arimo"/>
                <a:sym typeface="Arimo"/>
              </a:rPr>
              <a:t>System Infrastructure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2531" y="7413412"/>
            <a:ext cx="9245898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692" indent="-215846" lvl="1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Frontend</a:t>
            </a: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React.js  + Tailwind CSS</a:t>
            </a:r>
          </a:p>
          <a:p>
            <a:pPr algn="l" marL="431692" indent="-215846" lvl="1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Backend</a:t>
            </a: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Node.js + Express</a:t>
            </a:r>
          </a:p>
          <a:p>
            <a:pPr algn="l" marL="431692" indent="-215846" lvl="1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Agentic Orchestration</a:t>
            </a: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Custom agent workflow (LangGraph-inspired)</a:t>
            </a:r>
          </a:p>
          <a:p>
            <a:pPr algn="l" marL="431692" indent="-215846" lvl="1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LLM</a:t>
            </a: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Google Gemini 2.5 Flash</a:t>
            </a:r>
          </a:p>
          <a:p>
            <a:pPr algn="l" marL="431692" indent="-215846" lvl="1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Memory &amp; State</a:t>
            </a: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Supabase (user data + session memory)</a:t>
            </a:r>
          </a:p>
          <a:p>
            <a:pPr algn="l" marL="431692" indent="-215846" lvl="1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Search &amp; Jobs</a:t>
            </a: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Rapid APIs</a:t>
            </a:r>
          </a:p>
          <a:p>
            <a:pPr algn="l" marL="431692" indent="-215846" lvl="1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Deployment</a:t>
            </a: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Lovable Hosting</a:t>
            </a:r>
          </a:p>
          <a:p>
            <a:pPr algn="l" marL="431692" indent="-215846" lvl="1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Version Control</a:t>
            </a: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GitHub</a:t>
            </a:r>
          </a:p>
          <a:p>
            <a:pPr algn="l" marL="431692" indent="-215846" lvl="1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Vite</a:t>
            </a: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A high-performance build tool and development server.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7396" y="2539865"/>
            <a:ext cx="15618315" cy="388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72"/>
              </a:lnSpc>
            </a:pPr>
          </a:p>
          <a:p>
            <a:pPr algn="just" marL="258383" indent="-129191" lvl="1">
              <a:lnSpc>
                <a:spcPts val="2572"/>
              </a:lnSpc>
              <a:buFont typeface="Arial"/>
              <a:buChar char="•"/>
            </a:pPr>
            <a:r>
              <a:rPr lang="en-US" sz="2143">
                <a:solidFill>
                  <a:srgbClr val="09AC8F"/>
                </a:solidFill>
                <a:latin typeface="Montserrat"/>
                <a:ea typeface="Montserrat"/>
                <a:cs typeface="Montserrat"/>
                <a:sym typeface="Montserrat"/>
              </a:rPr>
              <a:t>Agentic Framework</a:t>
            </a:r>
            <a:r>
              <a:rPr lang="en-US" sz="2143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:  </a:t>
            </a:r>
            <a:r>
              <a:rPr lang="en-US" sz="214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LangGraph + Lang Chain with React loops for autonomous planning, actions.</a:t>
            </a:r>
          </a:p>
          <a:p>
            <a:pPr algn="just" marL="258655" indent="-129327" lvl="1">
              <a:lnSpc>
                <a:spcPts val="2572"/>
              </a:lnSpc>
              <a:buFont typeface="Arial"/>
              <a:buChar char="•"/>
            </a:pPr>
            <a:r>
              <a:rPr lang="en-US" sz="2143">
                <a:solidFill>
                  <a:srgbClr val="09AC8F"/>
                </a:solidFill>
                <a:latin typeface="Montserrat"/>
                <a:ea typeface="Montserrat"/>
                <a:cs typeface="Montserrat"/>
                <a:sym typeface="Montserrat"/>
              </a:rPr>
              <a:t>LLM Engine:</a:t>
            </a:r>
            <a:r>
              <a:rPr lang="en-US" sz="214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Google Gemini 2.5 Flash</a:t>
            </a:r>
            <a:r>
              <a:rPr lang="en-US" sz="214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alternatives for guidance, roadmaps, messaging, and interviews.</a:t>
            </a:r>
          </a:p>
          <a:p>
            <a:pPr algn="just" marL="258655" indent="-129327" lvl="1">
              <a:lnSpc>
                <a:spcPts val="2572"/>
              </a:lnSpc>
              <a:buFont typeface="Arial"/>
              <a:buChar char="•"/>
            </a:pPr>
            <a:r>
              <a:rPr lang="en-US" sz="2143">
                <a:solidFill>
                  <a:srgbClr val="09AC8F"/>
                </a:solidFill>
                <a:latin typeface="Montserrat"/>
                <a:ea typeface="Montserrat"/>
                <a:cs typeface="Montserrat"/>
                <a:sym typeface="Montserrat"/>
              </a:rPr>
              <a:t>Supervisor Agent:</a:t>
            </a:r>
            <a:r>
              <a:rPr lang="en-US" sz="214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4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Central brain that routes tasks, manages sub-agents, and    adapts career plans over time.</a:t>
            </a:r>
          </a:p>
          <a:p>
            <a:pPr algn="just" marL="258655" indent="-129327" lvl="1">
              <a:lnSpc>
                <a:spcPts val="2572"/>
              </a:lnSpc>
              <a:buFont typeface="Arial"/>
              <a:buChar char="•"/>
            </a:pPr>
            <a:r>
              <a:rPr lang="en-US" sz="2143">
                <a:solidFill>
                  <a:srgbClr val="09AC8F"/>
                </a:solidFill>
                <a:latin typeface="Montserrat"/>
                <a:ea typeface="Montserrat"/>
                <a:cs typeface="Montserrat"/>
                <a:sym typeface="Montserrat"/>
              </a:rPr>
              <a:t>Specialized Sub-Agents:  </a:t>
            </a:r>
            <a:r>
              <a:rPr lang="en-US" sz="214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Resume Analyzer, Job Matcher, Skill Planner, Application Tracker, Networking, Mock Interview.</a:t>
            </a:r>
          </a:p>
          <a:p>
            <a:pPr algn="just" marL="258655" indent="-129327" lvl="1">
              <a:lnSpc>
                <a:spcPts val="2572"/>
              </a:lnSpc>
              <a:buFont typeface="Arial"/>
              <a:buChar char="•"/>
            </a:pPr>
            <a:r>
              <a:rPr lang="en-US" sz="2143">
                <a:solidFill>
                  <a:srgbClr val="09AC8F"/>
                </a:solidFill>
                <a:latin typeface="Montserrat"/>
                <a:ea typeface="Montserrat"/>
                <a:cs typeface="Montserrat"/>
                <a:sym typeface="Montserrat"/>
              </a:rPr>
              <a:t>Document Processing:</a:t>
            </a:r>
            <a:r>
              <a:rPr lang="en-US" sz="214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4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PyPDF for resume parsing, skill extraction, and feedback analysis.</a:t>
            </a:r>
          </a:p>
          <a:p>
            <a:pPr algn="just" marL="258655" indent="-129327" lvl="1">
              <a:lnSpc>
                <a:spcPts val="2572"/>
              </a:lnSpc>
              <a:buFont typeface="Arial"/>
              <a:buChar char="•"/>
            </a:pPr>
            <a:r>
              <a:rPr lang="en-US" sz="2143">
                <a:solidFill>
                  <a:srgbClr val="09AC8F"/>
                </a:solidFill>
                <a:latin typeface="Montserrat"/>
                <a:ea typeface="Montserrat"/>
                <a:cs typeface="Montserrat"/>
                <a:sym typeface="Montserrat"/>
              </a:rPr>
              <a:t>Live Data &amp; Search</a:t>
            </a:r>
            <a:r>
              <a:rPr lang="en-US" sz="2143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:  Rapid</a:t>
            </a:r>
            <a:r>
              <a:rPr lang="en-US" sz="214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APIs for job trends, skills demand, and hackathons.</a:t>
            </a:r>
          </a:p>
          <a:p>
            <a:pPr algn="just" marL="258655" indent="-129327" lvl="1">
              <a:lnSpc>
                <a:spcPts val="2572"/>
              </a:lnSpc>
              <a:buFont typeface="Arial"/>
              <a:buChar char="•"/>
            </a:pPr>
            <a:r>
              <a:rPr lang="en-US" sz="2143">
                <a:solidFill>
                  <a:srgbClr val="09AC8F"/>
                </a:solidFill>
                <a:latin typeface="Montserrat"/>
                <a:ea typeface="Montserrat"/>
                <a:cs typeface="Montserrat"/>
                <a:sym typeface="Montserrat"/>
              </a:rPr>
              <a:t>Persistent Memory:  </a:t>
            </a:r>
            <a:r>
              <a:rPr lang="en-US" sz="214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Supabase  </a:t>
            </a:r>
            <a:r>
              <a:rPr lang="en-US" sz="214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 store career history, progress, and rejection insights.</a:t>
            </a:r>
          </a:p>
          <a:p>
            <a:pPr algn="just" marL="258655" indent="-129327" lvl="1">
              <a:lnSpc>
                <a:spcPts val="2572"/>
              </a:lnSpc>
              <a:buFont typeface="Arial"/>
              <a:buChar char="•"/>
            </a:pPr>
            <a:r>
              <a:rPr lang="en-US" sz="2143">
                <a:solidFill>
                  <a:srgbClr val="09AC8F"/>
                </a:solidFill>
                <a:latin typeface="Montserrat"/>
                <a:ea typeface="Montserrat"/>
                <a:cs typeface="Montserrat"/>
                <a:sym typeface="Montserrat"/>
              </a:rPr>
              <a:t>Learning Feedback Loop:</a:t>
            </a:r>
            <a:r>
              <a:rPr lang="en-US" sz="214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4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Continuously refines recommendations based on user actions and outcomes.</a:t>
            </a:r>
          </a:p>
          <a:p>
            <a:pPr algn="just" marL="258655" indent="-129327" lvl="1">
              <a:lnSpc>
                <a:spcPts val="2572"/>
              </a:lnSpc>
              <a:buFont typeface="Arial"/>
              <a:buChar char="•"/>
            </a:pPr>
            <a:r>
              <a:rPr lang="en-US" sz="2143">
                <a:solidFill>
                  <a:srgbClr val="09AC8F"/>
                </a:solidFill>
                <a:latin typeface="Montserrat"/>
                <a:ea typeface="Montserrat"/>
                <a:cs typeface="Montserrat"/>
                <a:sym typeface="Montserrat"/>
              </a:rPr>
              <a:t>User Interface:</a:t>
            </a:r>
            <a:r>
              <a:rPr lang="en-US" sz="2143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4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react chat + dashboard for guidance, tracking, alerts, and reports.</a:t>
            </a:r>
          </a:p>
          <a:p>
            <a:pPr algn="l" marL="258655" indent="-129327" lvl="1">
              <a:lnSpc>
                <a:spcPts val="2572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48" y="-3048"/>
            <a:ext cx="18290191" cy="1192540"/>
            <a:chOff x="0" y="0"/>
            <a:chExt cx="18290197" cy="119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048" y="3048"/>
              <a:ext cx="18287115" cy="1189484"/>
            </a:xfrm>
            <a:custGeom>
              <a:avLst/>
              <a:gdLst/>
              <a:ahLst/>
              <a:cxnLst/>
              <a:rect r="r" b="b" t="t" l="l"/>
              <a:pathLst>
                <a:path h="1189484" w="18287115">
                  <a:moveTo>
                    <a:pt x="0" y="0"/>
                  </a:moveTo>
                  <a:lnTo>
                    <a:pt x="0" y="1189484"/>
                  </a:lnTo>
                  <a:lnTo>
                    <a:pt x="18287115" y="1189484"/>
                  </a:lnTo>
                  <a:lnTo>
                    <a:pt x="18287115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333240" y="0"/>
            <a:ext cx="3468843" cy="1168965"/>
          </a:xfrm>
          <a:custGeom>
            <a:avLst/>
            <a:gdLst/>
            <a:ahLst/>
            <a:cxnLst/>
            <a:rect r="r" b="b" t="t" l="l"/>
            <a:pathLst>
              <a:path h="1168965" w="3468843">
                <a:moveTo>
                  <a:pt x="0" y="0"/>
                </a:moveTo>
                <a:lnTo>
                  <a:pt x="3468843" y="0"/>
                </a:lnTo>
                <a:lnTo>
                  <a:pt x="3468843" y="1168965"/>
                </a:lnTo>
                <a:lnTo>
                  <a:pt x="0" y="1168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11" t="-4492" r="-2827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29682" y="1412919"/>
            <a:ext cx="57140" cy="571405"/>
            <a:chOff x="0" y="0"/>
            <a:chExt cx="57137" cy="5713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47" cy="571367"/>
            </a:xfrm>
            <a:custGeom>
              <a:avLst/>
              <a:gdLst/>
              <a:ahLst/>
              <a:cxnLst/>
              <a:rect r="r" b="b" t="t" l="l"/>
              <a:pathLst>
                <a:path h="571367" w="57147">
                  <a:moveTo>
                    <a:pt x="0" y="0"/>
                  </a:moveTo>
                  <a:lnTo>
                    <a:pt x="57147" y="0"/>
                  </a:lnTo>
                  <a:lnTo>
                    <a:pt x="57147" y="571367"/>
                  </a:lnTo>
                  <a:lnTo>
                    <a:pt x="0" y="571367"/>
                  </a:lnTo>
                  <a:close/>
                </a:path>
              </a:pathLst>
            </a:custGeom>
            <a:solidFill>
              <a:srgbClr val="1CBFA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477205" y="2547661"/>
            <a:ext cx="13335000" cy="7739339"/>
          </a:xfrm>
          <a:custGeom>
            <a:avLst/>
            <a:gdLst/>
            <a:ahLst/>
            <a:cxnLst/>
            <a:rect r="r" b="b" t="t" l="l"/>
            <a:pathLst>
              <a:path h="7739339" w="13335000">
                <a:moveTo>
                  <a:pt x="0" y="0"/>
                </a:moveTo>
                <a:lnTo>
                  <a:pt x="13335000" y="0"/>
                </a:lnTo>
                <a:lnTo>
                  <a:pt x="13335000" y="7739339"/>
                </a:lnTo>
                <a:lnTo>
                  <a:pt x="0" y="7739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47" r="0" b="-13502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0" y="0"/>
            <a:ext cx="18288000" cy="1196445"/>
            <a:chOff x="0" y="0"/>
            <a:chExt cx="18288000" cy="11964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1196468"/>
            </a:xfrm>
            <a:custGeom>
              <a:avLst/>
              <a:gdLst/>
              <a:ahLst/>
              <a:cxnLst/>
              <a:rect r="r" b="b" t="t" l="l"/>
              <a:pathLst>
                <a:path h="1196468" w="18288000">
                  <a:moveTo>
                    <a:pt x="0" y="0"/>
                  </a:moveTo>
                  <a:lnTo>
                    <a:pt x="0" y="1196468"/>
                  </a:lnTo>
                  <a:lnTo>
                    <a:pt x="18288000" y="1196468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658244" y="1255262"/>
            <a:ext cx="6800650" cy="941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7"/>
              </a:lnSpc>
            </a:pPr>
            <a:r>
              <a:rPr lang="en-US" b="true" sz="5398">
                <a:solidFill>
                  <a:srgbClr val="1CBFA2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7299" y="1541736"/>
            <a:ext cx="55578" cy="555784"/>
            <a:chOff x="0" y="0"/>
            <a:chExt cx="55575" cy="5557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496" cy="555758"/>
            </a:xfrm>
            <a:custGeom>
              <a:avLst/>
              <a:gdLst/>
              <a:ahLst/>
              <a:cxnLst/>
              <a:rect r="r" b="b" t="t" l="l"/>
              <a:pathLst>
                <a:path h="555758" w="55496">
                  <a:moveTo>
                    <a:pt x="0" y="0"/>
                  </a:moveTo>
                  <a:lnTo>
                    <a:pt x="0" y="555758"/>
                  </a:lnTo>
                  <a:lnTo>
                    <a:pt x="55496" y="555758"/>
                  </a:lnTo>
                  <a:lnTo>
                    <a:pt x="55496" y="0"/>
                  </a:lnTo>
                  <a:close/>
                </a:path>
              </a:pathLst>
            </a:custGeom>
            <a:solidFill>
              <a:srgbClr val="1CBFA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3048" y="-3048"/>
            <a:ext cx="18290191" cy="1192540"/>
            <a:chOff x="0" y="0"/>
            <a:chExt cx="18290197" cy="11925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048" y="3048"/>
              <a:ext cx="18287115" cy="1189484"/>
            </a:xfrm>
            <a:custGeom>
              <a:avLst/>
              <a:gdLst/>
              <a:ahLst/>
              <a:cxnLst/>
              <a:rect r="r" b="b" t="t" l="l"/>
              <a:pathLst>
                <a:path h="1189484" w="18287115">
                  <a:moveTo>
                    <a:pt x="0" y="0"/>
                  </a:moveTo>
                  <a:lnTo>
                    <a:pt x="0" y="1189484"/>
                  </a:lnTo>
                  <a:lnTo>
                    <a:pt x="18287115" y="1189484"/>
                  </a:lnTo>
                  <a:lnTo>
                    <a:pt x="18287115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333240" y="0"/>
            <a:ext cx="3468843" cy="1168965"/>
          </a:xfrm>
          <a:custGeom>
            <a:avLst/>
            <a:gdLst/>
            <a:ahLst/>
            <a:cxnLst/>
            <a:rect r="r" b="b" t="t" l="l"/>
            <a:pathLst>
              <a:path h="1168965" w="3468843">
                <a:moveTo>
                  <a:pt x="0" y="0"/>
                </a:moveTo>
                <a:lnTo>
                  <a:pt x="3468843" y="0"/>
                </a:lnTo>
                <a:lnTo>
                  <a:pt x="3468843" y="1168965"/>
                </a:lnTo>
                <a:lnTo>
                  <a:pt x="0" y="1168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11" t="-4492" r="-2827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0"/>
            <a:ext cx="18288000" cy="1196445"/>
            <a:chOff x="0" y="0"/>
            <a:chExt cx="18288000" cy="11964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1196468"/>
            </a:xfrm>
            <a:custGeom>
              <a:avLst/>
              <a:gdLst/>
              <a:ahLst/>
              <a:cxnLst/>
              <a:rect r="r" b="b" t="t" l="l"/>
              <a:pathLst>
                <a:path h="1196468" w="18288000">
                  <a:moveTo>
                    <a:pt x="0" y="0"/>
                  </a:moveTo>
                  <a:lnTo>
                    <a:pt x="0" y="1196468"/>
                  </a:lnTo>
                  <a:lnTo>
                    <a:pt x="18288000" y="1196468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2173043" y="2319357"/>
            <a:ext cx="61208" cy="74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b="true" sz="2625">
                <a:solidFill>
                  <a:srgbClr val="1CBFA2"/>
                </a:solidFill>
                <a:latin typeface="Literata Bold"/>
                <a:ea typeface="Literata Bold"/>
                <a:cs typeface="Literata Bold"/>
                <a:sym typeface="Literata Bold"/>
              </a:rPr>
              <a:t>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44342" y="2213696"/>
            <a:ext cx="7131539" cy="3860791"/>
          </a:xfrm>
          <a:custGeom>
            <a:avLst/>
            <a:gdLst/>
            <a:ahLst/>
            <a:cxnLst/>
            <a:rect r="r" b="b" t="t" l="l"/>
            <a:pathLst>
              <a:path h="3860791" w="7131539">
                <a:moveTo>
                  <a:pt x="0" y="0"/>
                </a:moveTo>
                <a:lnTo>
                  <a:pt x="7131539" y="0"/>
                </a:lnTo>
                <a:lnTo>
                  <a:pt x="7131539" y="3860791"/>
                </a:lnTo>
                <a:lnTo>
                  <a:pt x="0" y="38607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429431" y="2213696"/>
            <a:ext cx="7131539" cy="3860791"/>
          </a:xfrm>
          <a:custGeom>
            <a:avLst/>
            <a:gdLst/>
            <a:ahLst/>
            <a:cxnLst/>
            <a:rect r="r" b="b" t="t" l="l"/>
            <a:pathLst>
              <a:path h="3860791" w="7131539">
                <a:moveTo>
                  <a:pt x="0" y="0"/>
                </a:moveTo>
                <a:lnTo>
                  <a:pt x="7131539" y="0"/>
                </a:lnTo>
                <a:lnTo>
                  <a:pt x="7131539" y="3860791"/>
                </a:lnTo>
                <a:lnTo>
                  <a:pt x="0" y="38607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016852" y="2213696"/>
            <a:ext cx="8271148" cy="4652524"/>
            <a:chOff x="0" y="0"/>
            <a:chExt cx="8271154" cy="46525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71133" cy="4652514"/>
            </a:xfrm>
            <a:custGeom>
              <a:avLst/>
              <a:gdLst/>
              <a:ahLst/>
              <a:cxnLst/>
              <a:rect r="r" b="b" t="t" l="l"/>
              <a:pathLst>
                <a:path h="4652514" w="8271133">
                  <a:moveTo>
                    <a:pt x="0" y="4652514"/>
                  </a:moveTo>
                  <a:lnTo>
                    <a:pt x="8271133" y="4652514"/>
                  </a:lnTo>
                  <a:lnTo>
                    <a:pt x="82711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F4F8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680017" y="6426209"/>
            <a:ext cx="7131539" cy="3860791"/>
          </a:xfrm>
          <a:custGeom>
            <a:avLst/>
            <a:gdLst/>
            <a:ahLst/>
            <a:cxnLst/>
            <a:rect r="r" b="b" t="t" l="l"/>
            <a:pathLst>
              <a:path h="3860791" w="7131539">
                <a:moveTo>
                  <a:pt x="0" y="0"/>
                </a:moveTo>
                <a:lnTo>
                  <a:pt x="7131539" y="0"/>
                </a:lnTo>
                <a:lnTo>
                  <a:pt x="7131539" y="3860791"/>
                </a:lnTo>
                <a:lnTo>
                  <a:pt x="0" y="38607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3245278">
            <a:off x="3004901" y="5896761"/>
            <a:ext cx="2419917" cy="1865536"/>
          </a:xfrm>
          <a:custGeom>
            <a:avLst/>
            <a:gdLst/>
            <a:ahLst/>
            <a:cxnLst/>
            <a:rect r="r" b="b" t="t" l="l"/>
            <a:pathLst>
              <a:path h="1865536" w="2419917">
                <a:moveTo>
                  <a:pt x="0" y="0"/>
                </a:moveTo>
                <a:lnTo>
                  <a:pt x="2419917" y="0"/>
                </a:lnTo>
                <a:lnTo>
                  <a:pt x="2419917" y="1865536"/>
                </a:lnTo>
                <a:lnTo>
                  <a:pt x="0" y="18655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59603" y="1498616"/>
            <a:ext cx="2556470" cy="71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6"/>
              </a:lnSpc>
            </a:pPr>
            <a:r>
              <a:rPr lang="en-US" b="true" sz="5251">
                <a:solidFill>
                  <a:srgbClr val="1CBFA2"/>
                </a:solidFill>
                <a:latin typeface="Arimo Bold"/>
                <a:ea typeface="Arimo Bold"/>
                <a:cs typeface="Arimo Bold"/>
                <a:sym typeface="Arimo Bold"/>
              </a:rPr>
              <a:t>IMPACT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31967" y="2369611"/>
            <a:ext cx="4839833" cy="47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b="true" sz="2625">
                <a:solidFill>
                  <a:srgbClr val="1CBFA2"/>
                </a:solidFill>
                <a:latin typeface="Literata Bold"/>
                <a:ea typeface="Literata Bold"/>
                <a:cs typeface="Literata Bold"/>
                <a:sym typeface="Literata Bold"/>
              </a:rPr>
              <a:t>USP</a:t>
            </a:r>
            <a:r>
              <a:rPr lang="en-US" b="true" sz="2625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 </a:t>
            </a:r>
            <a:r>
              <a:rPr lang="en-US" b="true" sz="2625">
                <a:solidFill>
                  <a:srgbClr val="1CBFA2"/>
                </a:solidFill>
                <a:latin typeface="Literata Bold"/>
                <a:ea typeface="Literata Bold"/>
                <a:cs typeface="Literata Bold"/>
                <a:sym typeface="Literata Bold"/>
              </a:rPr>
              <a:t>of</a:t>
            </a:r>
            <a:r>
              <a:rPr lang="en-US" b="true" sz="2625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 </a:t>
            </a:r>
            <a:r>
              <a:rPr lang="en-US" b="true" sz="2625">
                <a:solidFill>
                  <a:srgbClr val="1CBFA2"/>
                </a:solidFill>
                <a:latin typeface="Literata Bold"/>
                <a:ea typeface="Literata Bold"/>
                <a:cs typeface="Literata Bold"/>
                <a:sym typeface="Literata Bold"/>
              </a:rPr>
              <a:t>the</a:t>
            </a:r>
            <a:r>
              <a:rPr lang="en-US" b="true" sz="2625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 </a:t>
            </a:r>
            <a:r>
              <a:rPr lang="en-US" b="true" sz="2625">
                <a:solidFill>
                  <a:srgbClr val="1CBFA2"/>
                </a:solidFill>
                <a:latin typeface="Literata Bold"/>
                <a:ea typeface="Literata Bold"/>
                <a:cs typeface="Literata Bold"/>
                <a:sym typeface="Literata Bold"/>
              </a:rPr>
              <a:t>Proposed</a:t>
            </a:r>
            <a:r>
              <a:rPr lang="en-US" b="true" sz="2625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 </a:t>
            </a:r>
            <a:r>
              <a:rPr lang="en-US" b="true" sz="2625">
                <a:solidFill>
                  <a:srgbClr val="1CBFA2"/>
                </a:solidFill>
                <a:latin typeface="Literata Bold"/>
                <a:ea typeface="Literata Bold"/>
                <a:cs typeface="Literata Bold"/>
                <a:sym typeface="Literata Bold"/>
              </a:rPr>
              <a:t>Solution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7228" y="3144949"/>
            <a:ext cx="6069312" cy="2375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3479" indent="-221739" lvl="1">
              <a:lnSpc>
                <a:spcPts val="3187"/>
              </a:lnSpc>
              <a:buFont typeface="Arial"/>
              <a:buChar char="•"/>
            </a:pPr>
            <a:r>
              <a:rPr lang="en-US" sz="205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Reduces career confusion and anxiety among students &amp; freshers</a:t>
            </a:r>
          </a:p>
          <a:p>
            <a:pPr algn="l" marL="443479" indent="-221739" lvl="1">
              <a:lnSpc>
                <a:spcPts val="3187"/>
              </a:lnSpc>
              <a:buFont typeface="Arial"/>
              <a:buChar char="•"/>
            </a:pPr>
            <a:r>
              <a:rPr lang="en-US" sz="205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Converts rejections into structured improvement plans</a:t>
            </a:r>
          </a:p>
          <a:p>
            <a:pPr algn="l" marL="443479" indent="-221739" lvl="1">
              <a:lnSpc>
                <a:spcPts val="3187"/>
              </a:lnSpc>
              <a:buFont typeface="Arial"/>
              <a:buChar char="•"/>
            </a:pPr>
            <a:r>
              <a:rPr lang="en-US" sz="205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Democratizes career mentorship (no paid counselors needed)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0769" y="2327186"/>
            <a:ext cx="7022230" cy="5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3"/>
              </a:lnSpc>
              <a:spcBef>
                <a:spcPct val="0"/>
              </a:spcBef>
            </a:pPr>
            <a:r>
              <a:rPr lang="en-US" sz="3224">
                <a:solidFill>
                  <a:srgbClr val="FEFEFE"/>
                </a:solidFill>
                <a:latin typeface="Montserrat"/>
                <a:ea typeface="Montserrat"/>
                <a:cs typeface="Montserrat"/>
                <a:sym typeface="Montserrat"/>
              </a:rPr>
              <a:t>Social &amp; Educational Impact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02083" y="3143845"/>
            <a:ext cx="5951820" cy="231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8148" indent="-219074" lvl="1">
              <a:lnSpc>
                <a:spcPts val="3149"/>
              </a:lnSpc>
              <a:buFont typeface="Arial"/>
              <a:buChar char="•"/>
            </a:pPr>
            <a:r>
              <a:rPr lang="en-US" sz="20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Demonstrates real-world agentic AI, not prompt-based chat</a:t>
            </a:r>
          </a:p>
          <a:p>
            <a:pPr algn="l" marL="438148" indent="-219074" lvl="1">
              <a:lnSpc>
                <a:spcPts val="3149"/>
              </a:lnSpc>
              <a:buFont typeface="Arial"/>
              <a:buChar char="•"/>
            </a:pPr>
            <a:r>
              <a:rPr lang="en-US" sz="20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Shows multi-agent coordination with memory</a:t>
            </a:r>
          </a:p>
          <a:p>
            <a:pPr algn="l" marL="438148" indent="-219074" lvl="1">
              <a:lnSpc>
                <a:spcPts val="3149"/>
              </a:lnSpc>
              <a:buFont typeface="Arial"/>
              <a:buChar char="•"/>
            </a:pPr>
            <a:r>
              <a:rPr lang="en-US" sz="202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Practical application of LangGraph in production-like workflow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48581" y="2291753"/>
            <a:ext cx="5264553" cy="5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3"/>
              </a:lnSpc>
              <a:spcBef>
                <a:spcPct val="0"/>
              </a:spcBef>
            </a:pPr>
            <a:r>
              <a:rPr lang="en-US" sz="3224">
                <a:solidFill>
                  <a:srgbClr val="FEFEFE"/>
                </a:solidFill>
                <a:latin typeface="Montserrat"/>
                <a:ea typeface="Montserrat"/>
                <a:cs typeface="Montserrat"/>
                <a:sym typeface="Montserrat"/>
              </a:rPr>
              <a:t>Technical Impact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67642" y="6582124"/>
            <a:ext cx="4839833" cy="47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b="true" sz="2625">
                <a:solidFill>
                  <a:srgbClr val="1CBFA2"/>
                </a:solidFill>
                <a:latin typeface="Literata Bold"/>
                <a:ea typeface="Literata Bold"/>
                <a:cs typeface="Literata Bold"/>
                <a:sym typeface="Literata Bold"/>
              </a:rPr>
              <a:t>USP</a:t>
            </a:r>
            <a:r>
              <a:rPr lang="en-US" b="true" sz="2625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 </a:t>
            </a:r>
            <a:r>
              <a:rPr lang="en-US" b="true" sz="2625">
                <a:solidFill>
                  <a:srgbClr val="1CBFA2"/>
                </a:solidFill>
                <a:latin typeface="Literata Bold"/>
                <a:ea typeface="Literata Bold"/>
                <a:cs typeface="Literata Bold"/>
                <a:sym typeface="Literata Bold"/>
              </a:rPr>
              <a:t>of</a:t>
            </a:r>
            <a:r>
              <a:rPr lang="en-US" b="true" sz="2625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 </a:t>
            </a:r>
            <a:r>
              <a:rPr lang="en-US" b="true" sz="2625">
                <a:solidFill>
                  <a:srgbClr val="1CBFA2"/>
                </a:solidFill>
                <a:latin typeface="Literata Bold"/>
                <a:ea typeface="Literata Bold"/>
                <a:cs typeface="Literata Bold"/>
                <a:sym typeface="Literata Bold"/>
              </a:rPr>
              <a:t>the</a:t>
            </a:r>
            <a:r>
              <a:rPr lang="en-US" b="true" sz="2625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 </a:t>
            </a:r>
            <a:r>
              <a:rPr lang="en-US" b="true" sz="2625">
                <a:solidFill>
                  <a:srgbClr val="1CBFA2"/>
                </a:solidFill>
                <a:latin typeface="Literata Bold"/>
                <a:ea typeface="Literata Bold"/>
                <a:cs typeface="Literata Bold"/>
                <a:sym typeface="Literata Bold"/>
              </a:rPr>
              <a:t>Proposed</a:t>
            </a:r>
            <a:r>
              <a:rPr lang="en-US" b="true" sz="2625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 </a:t>
            </a:r>
            <a:r>
              <a:rPr lang="en-US" b="true" sz="2625">
                <a:solidFill>
                  <a:srgbClr val="1CBFA2"/>
                </a:solidFill>
                <a:latin typeface="Literata Bold"/>
                <a:ea typeface="Literata Bold"/>
                <a:cs typeface="Literata Bold"/>
                <a:sym typeface="Literata Bold"/>
              </a:rPr>
              <a:t>Solution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228377" y="7391254"/>
            <a:ext cx="5678569" cy="237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0685" indent="-220343" lvl="1">
              <a:lnSpc>
                <a:spcPts val="3167"/>
              </a:lnSpc>
              <a:buFont typeface="Arial"/>
              <a:buChar char="•"/>
            </a:pPr>
            <a:r>
              <a:rPr lang="en-US" sz="204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Can be adopted by colleges for placement support</a:t>
            </a:r>
          </a:p>
          <a:p>
            <a:pPr algn="l" marL="440685" indent="-220343" lvl="1">
              <a:lnSpc>
                <a:spcPts val="3167"/>
              </a:lnSpc>
              <a:buFont typeface="Arial"/>
              <a:buChar char="•"/>
            </a:pPr>
            <a:r>
              <a:rPr lang="en-US" sz="204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Helps companies pre-screen candidates via readiness scores</a:t>
            </a:r>
          </a:p>
          <a:p>
            <a:pPr algn="l" marL="440685" indent="-220343" lvl="1">
              <a:lnSpc>
                <a:spcPts val="3167"/>
              </a:lnSpc>
              <a:buFont typeface="Arial"/>
              <a:buChar char="•"/>
            </a:pPr>
            <a:r>
              <a:rPr lang="en-US" sz="204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Reduces recruiter workload through better-prepared applicants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76444" y="6539699"/>
            <a:ext cx="7022230" cy="5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3"/>
              </a:lnSpc>
              <a:spcBef>
                <a:spcPct val="0"/>
              </a:spcBef>
            </a:pPr>
            <a:r>
              <a:rPr lang="en-US" sz="3224">
                <a:solidFill>
                  <a:srgbClr val="FEFEFE"/>
                </a:solidFill>
                <a:latin typeface="Montserrat"/>
                <a:ea typeface="Montserrat"/>
                <a:cs typeface="Montserrat"/>
                <a:sym typeface="Montserrat"/>
              </a:rPr>
              <a:t> Institutional / Industry Impact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-503623">
            <a:off x="12360952" y="6228381"/>
            <a:ext cx="2234928" cy="1722927"/>
          </a:xfrm>
          <a:custGeom>
            <a:avLst/>
            <a:gdLst/>
            <a:ahLst/>
            <a:cxnLst/>
            <a:rect r="r" b="b" t="t" l="l"/>
            <a:pathLst>
              <a:path h="1722927" w="2234928">
                <a:moveTo>
                  <a:pt x="0" y="0"/>
                </a:moveTo>
                <a:lnTo>
                  <a:pt x="2234929" y="0"/>
                </a:lnTo>
                <a:lnTo>
                  <a:pt x="2234929" y="1722926"/>
                </a:lnTo>
                <a:lnTo>
                  <a:pt x="0" y="17229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386" y="1352321"/>
            <a:ext cx="60636" cy="606333"/>
            <a:chOff x="0" y="0"/>
            <a:chExt cx="60630" cy="606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575" cy="606300"/>
            </a:xfrm>
            <a:custGeom>
              <a:avLst/>
              <a:gdLst/>
              <a:ahLst/>
              <a:cxnLst/>
              <a:rect r="r" b="b" t="t" l="l"/>
              <a:pathLst>
                <a:path h="606300" w="60575">
                  <a:moveTo>
                    <a:pt x="0" y="0"/>
                  </a:moveTo>
                  <a:lnTo>
                    <a:pt x="60575" y="0"/>
                  </a:lnTo>
                  <a:lnTo>
                    <a:pt x="60575" y="606300"/>
                  </a:lnTo>
                  <a:lnTo>
                    <a:pt x="0" y="606300"/>
                  </a:lnTo>
                  <a:close/>
                </a:path>
              </a:pathLst>
            </a:custGeom>
            <a:solidFill>
              <a:srgbClr val="1CBFA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71386" y="6089015"/>
            <a:ext cx="8275730" cy="3849973"/>
          </a:xfrm>
          <a:custGeom>
            <a:avLst/>
            <a:gdLst/>
            <a:ahLst/>
            <a:cxnLst/>
            <a:rect r="r" b="b" t="t" l="l"/>
            <a:pathLst>
              <a:path h="3849973" w="8275730">
                <a:moveTo>
                  <a:pt x="0" y="0"/>
                </a:moveTo>
                <a:lnTo>
                  <a:pt x="8275729" y="0"/>
                </a:lnTo>
                <a:lnTo>
                  <a:pt x="8275729" y="3849973"/>
                </a:lnTo>
                <a:lnTo>
                  <a:pt x="0" y="3849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3048" y="-3048"/>
            <a:ext cx="18290191" cy="1192540"/>
            <a:chOff x="0" y="0"/>
            <a:chExt cx="18290197" cy="1192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048" y="3048"/>
              <a:ext cx="18287115" cy="1189484"/>
            </a:xfrm>
            <a:custGeom>
              <a:avLst/>
              <a:gdLst/>
              <a:ahLst/>
              <a:cxnLst/>
              <a:rect r="r" b="b" t="t" l="l"/>
              <a:pathLst>
                <a:path h="1189484" w="18287115">
                  <a:moveTo>
                    <a:pt x="0" y="0"/>
                  </a:moveTo>
                  <a:lnTo>
                    <a:pt x="0" y="1189484"/>
                  </a:lnTo>
                  <a:lnTo>
                    <a:pt x="18287115" y="1189484"/>
                  </a:lnTo>
                  <a:lnTo>
                    <a:pt x="18287115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333240" y="0"/>
            <a:ext cx="3468843" cy="1168965"/>
          </a:xfrm>
          <a:custGeom>
            <a:avLst/>
            <a:gdLst/>
            <a:ahLst/>
            <a:cxnLst/>
            <a:rect r="r" b="b" t="t" l="l"/>
            <a:pathLst>
              <a:path h="1168965" w="3468843">
                <a:moveTo>
                  <a:pt x="0" y="0"/>
                </a:moveTo>
                <a:lnTo>
                  <a:pt x="3468843" y="0"/>
                </a:lnTo>
                <a:lnTo>
                  <a:pt x="3468843" y="1168965"/>
                </a:lnTo>
                <a:lnTo>
                  <a:pt x="0" y="11689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11" t="-4492" r="-2827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0" y="0"/>
            <a:ext cx="18288000" cy="1196445"/>
            <a:chOff x="0" y="0"/>
            <a:chExt cx="18288000" cy="11964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1196468"/>
            </a:xfrm>
            <a:custGeom>
              <a:avLst/>
              <a:gdLst/>
              <a:ahLst/>
              <a:cxnLst/>
              <a:rect r="r" b="b" t="t" l="l"/>
              <a:pathLst>
                <a:path h="1196468" w="18288000">
                  <a:moveTo>
                    <a:pt x="0" y="0"/>
                  </a:moveTo>
                  <a:lnTo>
                    <a:pt x="0" y="1196468"/>
                  </a:lnTo>
                  <a:lnTo>
                    <a:pt x="18288000" y="1196468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813921" y="1133495"/>
            <a:ext cx="5171579" cy="90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7"/>
              </a:lnSpc>
            </a:pPr>
            <a:r>
              <a:rPr lang="en-US" sz="5198">
                <a:solidFill>
                  <a:srgbClr val="1CBFA2"/>
                </a:solidFill>
                <a:latin typeface="Arimo"/>
                <a:ea typeface="Arimo"/>
                <a:cs typeface="Arimo"/>
                <a:sym typeface="Arimo"/>
              </a:rPr>
              <a:t>FUTURE SCOPE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98051" y="5124450"/>
            <a:ext cx="8015713" cy="239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226" indent="-226613" lvl="1">
              <a:lnSpc>
                <a:spcPts val="2712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Autonomous Career Copilot</a:t>
            </a:r>
          </a:p>
          <a:p>
            <a:pPr algn="l">
              <a:lnSpc>
                <a:spcPts val="2712"/>
              </a:lnSpc>
            </a:pPr>
          </a:p>
          <a:p>
            <a:pPr algn="l" marL="453226" indent="-226613" lvl="1">
              <a:lnSpc>
                <a:spcPts val="2712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AI agents negotiate interviews, referrals, and learning paths</a:t>
            </a:r>
          </a:p>
          <a:p>
            <a:pPr algn="l">
              <a:lnSpc>
                <a:spcPts val="2712"/>
              </a:lnSpc>
            </a:pPr>
          </a:p>
          <a:p>
            <a:pPr algn="l" marL="453226" indent="-226613" lvl="1">
              <a:lnSpc>
                <a:spcPts val="2712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Personalized lifelong career intelligence system</a:t>
            </a:r>
          </a:p>
          <a:p>
            <a:pPr algn="l">
              <a:lnSpc>
                <a:spcPts val="271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554103" y="7782841"/>
            <a:ext cx="6858859" cy="1709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226" indent="-226613" lvl="1">
              <a:lnSpc>
                <a:spcPts val="2712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Company-specific interview agents</a:t>
            </a:r>
          </a:p>
          <a:p>
            <a:pPr algn="l">
              <a:lnSpc>
                <a:spcPts val="2712"/>
              </a:lnSpc>
            </a:pPr>
          </a:p>
          <a:p>
            <a:pPr algn="l" marL="453226" indent="-226613" lvl="1">
              <a:lnSpc>
                <a:spcPts val="2712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Salary negotiation guidance</a:t>
            </a:r>
          </a:p>
          <a:p>
            <a:pPr algn="l">
              <a:lnSpc>
                <a:spcPts val="2712"/>
              </a:lnSpc>
            </a:pPr>
          </a:p>
          <a:p>
            <a:pPr algn="l" marL="453226" indent="-226613" lvl="1">
              <a:lnSpc>
                <a:spcPts val="2712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Behavioral + technical interview simulations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-670385" y="2047580"/>
            <a:ext cx="18584150" cy="5405142"/>
            <a:chOff x="0" y="0"/>
            <a:chExt cx="24778866" cy="72068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571036" y="0"/>
              <a:ext cx="11118964" cy="5172681"/>
            </a:xfrm>
            <a:custGeom>
              <a:avLst/>
              <a:gdLst/>
              <a:ahLst/>
              <a:cxnLst/>
              <a:rect r="r" b="b" t="t" l="l"/>
              <a:pathLst>
                <a:path h="5172681" w="11118964">
                  <a:moveTo>
                    <a:pt x="0" y="0"/>
                  </a:moveTo>
                  <a:lnTo>
                    <a:pt x="11118964" y="0"/>
                  </a:lnTo>
                  <a:lnTo>
                    <a:pt x="11118964" y="5172681"/>
                  </a:lnTo>
                  <a:lnTo>
                    <a:pt x="0" y="5172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2984062" y="1719766"/>
              <a:ext cx="11794804" cy="5487090"/>
            </a:xfrm>
            <a:custGeom>
              <a:avLst/>
              <a:gdLst/>
              <a:ahLst/>
              <a:cxnLst/>
              <a:rect r="r" b="b" t="t" l="l"/>
              <a:pathLst>
                <a:path h="5487090" w="11794804">
                  <a:moveTo>
                    <a:pt x="0" y="0"/>
                  </a:moveTo>
                  <a:lnTo>
                    <a:pt x="11794804" y="0"/>
                  </a:lnTo>
                  <a:lnTo>
                    <a:pt x="11794804" y="5487090"/>
                  </a:lnTo>
                  <a:lnTo>
                    <a:pt x="0" y="5487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2535984" y="2273338"/>
              <a:ext cx="9273726" cy="2272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226" indent="-226613" lvl="1">
                <a:lnSpc>
                  <a:spcPts val="2712"/>
                </a:lnSpc>
                <a:buFont typeface="Arial"/>
                <a:buChar char="•"/>
              </a:pPr>
              <a:r>
                <a:rPr lang="en-US" sz="20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LinkedIn &amp; GitHub integration</a:t>
              </a:r>
            </a:p>
            <a:p>
              <a:pPr algn="l">
                <a:lnSpc>
                  <a:spcPts val="2712"/>
                </a:lnSpc>
              </a:pPr>
            </a:p>
            <a:p>
              <a:pPr algn="l" marL="453226" indent="-226613" lvl="1">
                <a:lnSpc>
                  <a:spcPts val="2712"/>
                </a:lnSpc>
                <a:buFont typeface="Arial"/>
                <a:buChar char="•"/>
              </a:pPr>
              <a:r>
                <a:rPr lang="en-US" sz="20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Real-time internship &amp; hackathon alerts</a:t>
              </a:r>
            </a:p>
            <a:p>
              <a:pPr algn="l">
                <a:lnSpc>
                  <a:spcPts val="2712"/>
                </a:lnSpc>
              </a:pPr>
            </a:p>
            <a:p>
              <a:pPr algn="l" marL="453226" indent="-226613" lvl="1">
                <a:lnSpc>
                  <a:spcPts val="2712"/>
                </a:lnSpc>
                <a:buFont typeface="Arial"/>
                <a:buChar char="•"/>
              </a:pPr>
              <a:r>
                <a:rPr lang="en-US" sz="20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Interview scheduling &amp; calendar sync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09809"/>
              <a:ext cx="11118964" cy="7099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13"/>
                </a:lnSpc>
                <a:spcBef>
                  <a:spcPct val="0"/>
                </a:spcBef>
              </a:pPr>
              <a:r>
                <a:rPr lang="en-US" sz="3224">
                  <a:solidFill>
                    <a:srgbClr val="1CBFA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Short-Term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-580436" y="6905967"/>
            <a:ext cx="7960292" cy="5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3"/>
              </a:lnSpc>
              <a:spcBef>
                <a:spcPct val="0"/>
              </a:spcBef>
            </a:pPr>
            <a:r>
              <a:rPr lang="en-US" sz="3224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Mid-Term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36652" y="4065102"/>
            <a:ext cx="3592116" cy="5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3"/>
              </a:lnSpc>
              <a:spcBef>
                <a:spcPct val="0"/>
              </a:spcBef>
            </a:pPr>
            <a:r>
              <a:rPr lang="en-US" sz="3224">
                <a:solidFill>
                  <a:srgbClr val="1CBFA2"/>
                </a:solidFill>
                <a:latin typeface="Montserrat"/>
                <a:ea typeface="Montserrat"/>
                <a:cs typeface="Montserrat"/>
                <a:sym typeface="Montserrat"/>
              </a:rPr>
              <a:t>Long-Term Vision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48" y="-3048"/>
            <a:ext cx="18290191" cy="1192540"/>
            <a:chOff x="0" y="0"/>
            <a:chExt cx="18290197" cy="119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048" y="3048"/>
              <a:ext cx="18287115" cy="1189484"/>
            </a:xfrm>
            <a:custGeom>
              <a:avLst/>
              <a:gdLst/>
              <a:ahLst/>
              <a:cxnLst/>
              <a:rect r="r" b="b" t="t" l="l"/>
              <a:pathLst>
                <a:path h="1189484" w="18287115">
                  <a:moveTo>
                    <a:pt x="0" y="0"/>
                  </a:moveTo>
                  <a:lnTo>
                    <a:pt x="0" y="1189484"/>
                  </a:lnTo>
                  <a:lnTo>
                    <a:pt x="18287115" y="1189484"/>
                  </a:lnTo>
                  <a:lnTo>
                    <a:pt x="18287115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333240" y="0"/>
            <a:ext cx="3468843" cy="1168965"/>
          </a:xfrm>
          <a:custGeom>
            <a:avLst/>
            <a:gdLst/>
            <a:ahLst/>
            <a:cxnLst/>
            <a:rect r="r" b="b" t="t" l="l"/>
            <a:pathLst>
              <a:path h="1168965" w="3468843">
                <a:moveTo>
                  <a:pt x="0" y="0"/>
                </a:moveTo>
                <a:lnTo>
                  <a:pt x="3468843" y="0"/>
                </a:lnTo>
                <a:lnTo>
                  <a:pt x="3468843" y="1168965"/>
                </a:lnTo>
                <a:lnTo>
                  <a:pt x="0" y="1168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11" t="-4492" r="-2827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1196445"/>
            <a:chOff x="0" y="0"/>
            <a:chExt cx="18288000" cy="11964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196468"/>
            </a:xfrm>
            <a:custGeom>
              <a:avLst/>
              <a:gdLst/>
              <a:ahLst/>
              <a:cxnLst/>
              <a:rect r="r" b="b" t="t" l="l"/>
              <a:pathLst>
                <a:path h="1196468" w="18288000">
                  <a:moveTo>
                    <a:pt x="0" y="0"/>
                  </a:moveTo>
                  <a:lnTo>
                    <a:pt x="0" y="1196468"/>
                  </a:lnTo>
                  <a:lnTo>
                    <a:pt x="18288000" y="1196468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558917" y="2497095"/>
            <a:ext cx="8165708" cy="5930346"/>
          </a:xfrm>
          <a:custGeom>
            <a:avLst/>
            <a:gdLst/>
            <a:ahLst/>
            <a:cxnLst/>
            <a:rect r="r" b="b" t="t" l="l"/>
            <a:pathLst>
              <a:path h="5930346" w="8165708">
                <a:moveTo>
                  <a:pt x="0" y="0"/>
                </a:moveTo>
                <a:lnTo>
                  <a:pt x="8165708" y="0"/>
                </a:lnTo>
                <a:lnTo>
                  <a:pt x="8165708" y="5930346"/>
                </a:lnTo>
                <a:lnTo>
                  <a:pt x="0" y="59303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71966" y="2497147"/>
            <a:ext cx="8000396" cy="5930294"/>
          </a:xfrm>
          <a:custGeom>
            <a:avLst/>
            <a:gdLst/>
            <a:ahLst/>
            <a:cxnLst/>
            <a:rect r="r" b="b" t="t" l="l"/>
            <a:pathLst>
              <a:path h="5930294" w="8000396">
                <a:moveTo>
                  <a:pt x="0" y="0"/>
                </a:moveTo>
                <a:lnTo>
                  <a:pt x="8000396" y="0"/>
                </a:lnTo>
                <a:lnTo>
                  <a:pt x="8000396" y="5930294"/>
                </a:lnTo>
                <a:lnTo>
                  <a:pt x="0" y="59302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48" y="-3048"/>
            <a:ext cx="18290191" cy="1192540"/>
            <a:chOff x="0" y="0"/>
            <a:chExt cx="18290197" cy="119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048" y="3048"/>
              <a:ext cx="18287115" cy="1189484"/>
            </a:xfrm>
            <a:custGeom>
              <a:avLst/>
              <a:gdLst/>
              <a:ahLst/>
              <a:cxnLst/>
              <a:rect r="r" b="b" t="t" l="l"/>
              <a:pathLst>
                <a:path h="1189484" w="18287115">
                  <a:moveTo>
                    <a:pt x="0" y="0"/>
                  </a:moveTo>
                  <a:lnTo>
                    <a:pt x="0" y="1189484"/>
                  </a:lnTo>
                  <a:lnTo>
                    <a:pt x="18287115" y="1189484"/>
                  </a:lnTo>
                  <a:lnTo>
                    <a:pt x="18287115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333240" y="0"/>
            <a:ext cx="3468843" cy="1168965"/>
          </a:xfrm>
          <a:custGeom>
            <a:avLst/>
            <a:gdLst/>
            <a:ahLst/>
            <a:cxnLst/>
            <a:rect r="r" b="b" t="t" l="l"/>
            <a:pathLst>
              <a:path h="1168965" w="3468843">
                <a:moveTo>
                  <a:pt x="0" y="0"/>
                </a:moveTo>
                <a:lnTo>
                  <a:pt x="3468843" y="0"/>
                </a:lnTo>
                <a:lnTo>
                  <a:pt x="3468843" y="1168965"/>
                </a:lnTo>
                <a:lnTo>
                  <a:pt x="0" y="1168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11" t="-4492" r="-2827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1196445"/>
            <a:chOff x="0" y="0"/>
            <a:chExt cx="18288000" cy="11964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196468"/>
            </a:xfrm>
            <a:custGeom>
              <a:avLst/>
              <a:gdLst/>
              <a:ahLst/>
              <a:cxnLst/>
              <a:rect r="r" b="b" t="t" l="l"/>
              <a:pathLst>
                <a:path h="1196468" w="18288000">
                  <a:moveTo>
                    <a:pt x="0" y="0"/>
                  </a:moveTo>
                  <a:lnTo>
                    <a:pt x="0" y="1196468"/>
                  </a:lnTo>
                  <a:lnTo>
                    <a:pt x="18288000" y="1196468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3466848" y="1362500"/>
            <a:ext cx="11354305" cy="8629272"/>
          </a:xfrm>
          <a:custGeom>
            <a:avLst/>
            <a:gdLst/>
            <a:ahLst/>
            <a:cxnLst/>
            <a:rect r="r" b="b" t="t" l="l"/>
            <a:pathLst>
              <a:path h="8629272" w="11354305">
                <a:moveTo>
                  <a:pt x="0" y="0"/>
                </a:moveTo>
                <a:lnTo>
                  <a:pt x="11354304" y="0"/>
                </a:lnTo>
                <a:lnTo>
                  <a:pt x="11354304" y="8629272"/>
                </a:lnTo>
                <a:lnTo>
                  <a:pt x="0" y="862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86304" y="0"/>
            <a:ext cx="824389" cy="316363"/>
          </a:xfrm>
          <a:custGeom>
            <a:avLst/>
            <a:gdLst/>
            <a:ahLst/>
            <a:cxnLst/>
            <a:rect r="r" b="b" t="t" l="l"/>
            <a:pathLst>
              <a:path h="316363" w="824389">
                <a:moveTo>
                  <a:pt x="0" y="0"/>
                </a:moveTo>
                <a:lnTo>
                  <a:pt x="824388" y="0"/>
                </a:lnTo>
                <a:lnTo>
                  <a:pt x="824388" y="316364"/>
                </a:lnTo>
                <a:lnTo>
                  <a:pt x="0" y="316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68" t="-184937" r="-4710" b="-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957826"/>
            <a:chOff x="0" y="0"/>
            <a:chExt cx="18288000" cy="19578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288000" cy="1957836"/>
            </a:xfrm>
            <a:custGeom>
              <a:avLst/>
              <a:gdLst/>
              <a:ahLst/>
              <a:cxnLst/>
              <a:rect r="r" b="b" t="t" l="l"/>
              <a:pathLst>
                <a:path h="1957836" w="18288000">
                  <a:moveTo>
                    <a:pt x="0" y="0"/>
                  </a:moveTo>
                  <a:lnTo>
                    <a:pt x="0" y="1957836"/>
                  </a:lnTo>
                  <a:lnTo>
                    <a:pt x="18288000" y="195783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9681810"/>
            <a:ext cx="18288000" cy="605190"/>
            <a:chOff x="0" y="0"/>
            <a:chExt cx="18288000" cy="6051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605159"/>
            </a:xfrm>
            <a:custGeom>
              <a:avLst/>
              <a:gdLst/>
              <a:ahLst/>
              <a:cxnLst/>
              <a:rect r="r" b="b" t="t" l="l"/>
              <a:pathLst>
                <a:path h="605159" w="18288000">
                  <a:moveTo>
                    <a:pt x="0" y="0"/>
                  </a:moveTo>
                  <a:lnTo>
                    <a:pt x="0" y="605159"/>
                  </a:lnTo>
                  <a:lnTo>
                    <a:pt x="18288000" y="605159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6930228" y="205845"/>
            <a:ext cx="4673575" cy="1645720"/>
          </a:xfrm>
          <a:custGeom>
            <a:avLst/>
            <a:gdLst/>
            <a:ahLst/>
            <a:cxnLst/>
            <a:rect r="r" b="b" t="t" l="l"/>
            <a:pathLst>
              <a:path h="1645720" w="4673575">
                <a:moveTo>
                  <a:pt x="0" y="0"/>
                </a:moveTo>
                <a:lnTo>
                  <a:pt x="4673575" y="0"/>
                </a:lnTo>
                <a:lnTo>
                  <a:pt x="4673575" y="1645720"/>
                </a:lnTo>
                <a:lnTo>
                  <a:pt x="0" y="1645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11" t="0" r="-2828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0" y="0"/>
            <a:ext cx="18288000" cy="1959416"/>
            <a:chOff x="0" y="0"/>
            <a:chExt cx="18288000" cy="1959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1959350"/>
            </a:xfrm>
            <a:custGeom>
              <a:avLst/>
              <a:gdLst/>
              <a:ahLst/>
              <a:cxnLst/>
              <a:rect r="r" b="b" t="t" l="l"/>
              <a:pathLst>
                <a:path h="1959350" w="18288000">
                  <a:moveTo>
                    <a:pt x="0" y="0"/>
                  </a:moveTo>
                  <a:lnTo>
                    <a:pt x="0" y="1959350"/>
                  </a:lnTo>
                  <a:lnTo>
                    <a:pt x="18288000" y="195935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9609039"/>
            <a:ext cx="18288000" cy="677961"/>
            <a:chOff x="0" y="0"/>
            <a:chExt cx="18288000" cy="6779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677925"/>
            </a:xfrm>
            <a:custGeom>
              <a:avLst/>
              <a:gdLst/>
              <a:ahLst/>
              <a:cxnLst/>
              <a:rect r="r" b="b" t="t" l="l"/>
              <a:pathLst>
                <a:path h="677925" w="18288000">
                  <a:moveTo>
                    <a:pt x="0" y="0"/>
                  </a:moveTo>
                  <a:lnTo>
                    <a:pt x="0" y="677925"/>
                  </a:lnTo>
                  <a:lnTo>
                    <a:pt x="18288000" y="677925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25011" y="4701854"/>
            <a:ext cx="16766315" cy="190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30"/>
              </a:lnSpc>
            </a:pPr>
            <a:r>
              <a:rPr lang="en-US" b="true" sz="2206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11676" y="5401723"/>
            <a:ext cx="4292098" cy="305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602"/>
              </a:lnSpc>
            </a:pPr>
            <a:r>
              <a:rPr lang="en-US" sz="7040">
                <a:solidFill>
                  <a:srgbClr val="1CBFA2"/>
                </a:solidFill>
                <a:latin typeface="Garet"/>
                <a:ea typeface="Garet"/>
                <a:cs typeface="Garet"/>
                <a:sym typeface="Garet"/>
              </a:rPr>
              <a:t>COSMOS</a:t>
            </a:r>
          </a:p>
          <a:p>
            <a:pPr algn="just">
              <a:lnSpc>
                <a:spcPts val="2960"/>
              </a:lnSpc>
            </a:pPr>
            <a:r>
              <a:rPr lang="en-US" b="true" sz="592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Agentic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DAG9yYaUsd0</dc:identifier>
  <dcterms:modified xsi:type="dcterms:W3CDTF">2011-08-01T06:04:30Z</dcterms:modified>
  <cp:revision>1</cp:revision>
  <dc:title>careerpilotai</dc:title>
</cp:coreProperties>
</file>